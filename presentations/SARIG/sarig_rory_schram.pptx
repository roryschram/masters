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2"/>
  </p:notesMasterIdLst>
  <p:sldIdLst>
    <p:sldId id="256" r:id="rId2"/>
    <p:sldId id="258" r:id="rId3"/>
    <p:sldId id="296" r:id="rId4"/>
    <p:sldId id="292" r:id="rId5"/>
    <p:sldId id="293" r:id="rId6"/>
    <p:sldId id="294" r:id="rId7"/>
    <p:sldId id="297" r:id="rId8"/>
    <p:sldId id="295" r:id="rId9"/>
    <p:sldId id="298" r:id="rId10"/>
    <p:sldId id="299" r:id="rId11"/>
    <p:sldId id="301" r:id="rId12"/>
    <p:sldId id="303" r:id="rId13"/>
    <p:sldId id="302" r:id="rId14"/>
    <p:sldId id="300" r:id="rId15"/>
    <p:sldId id="304" r:id="rId16"/>
    <p:sldId id="274" r:id="rId17"/>
    <p:sldId id="305" r:id="rId18"/>
    <p:sldId id="306" r:id="rId19"/>
    <p:sldId id="307" r:id="rId20"/>
    <p:sldId id="279" r:id="rId21"/>
    <p:sldId id="308" r:id="rId22"/>
    <p:sldId id="309" r:id="rId23"/>
    <p:sldId id="310" r:id="rId24"/>
    <p:sldId id="311" r:id="rId25"/>
    <p:sldId id="312" r:id="rId26"/>
    <p:sldId id="313" r:id="rId27"/>
    <p:sldId id="314" r:id="rId28"/>
    <p:sldId id="315" r:id="rId29"/>
    <p:sldId id="316" r:id="rId30"/>
    <p:sldId id="289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7"/>
    <p:restoredTop sz="94621"/>
  </p:normalViewPr>
  <p:slideViewPr>
    <p:cSldViewPr snapToGrid="0">
      <p:cViewPr>
        <p:scale>
          <a:sx n="105" d="100"/>
          <a:sy n="105" d="100"/>
        </p:scale>
        <p:origin x="632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15475A-19DE-C244-8B09-FC56C781097B}" type="datetimeFigureOut">
              <a:rPr lang="en-US" smtClean="0"/>
              <a:t>9/4/25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F127C0-F521-9948-9013-52DD44571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131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B1EC579-7593-4549-B507-F6F0CEEF4AFD}" type="datetime1">
              <a:rPr lang="en-ZA" smtClean="0"/>
              <a:t>2025/09/04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2C8AA6EE-10E7-AE46-9D86-B298884D3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367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2C4BB-465C-6E4C-978A-0C0A956CF691}" type="datetime1">
              <a:rPr lang="en-ZA" smtClean="0"/>
              <a:t>2025/09/04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606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D4562-BAD8-3F4A-9F37-20B755856047}" type="datetime1">
              <a:rPr lang="en-ZA" smtClean="0"/>
              <a:t>2025/09/04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513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9250E-0EE9-EA43-9468-E0071303EE7C}" type="datetime1">
              <a:rPr lang="en-ZA" smtClean="0"/>
              <a:t>2025/09/04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002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FF489-9620-BA4E-8717-E1C285784F57}" type="datetime1">
              <a:rPr lang="en-ZA" smtClean="0"/>
              <a:t>2025/09/04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110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5ADB8-3EC9-844E-BDE2-91BD3889BD77}" type="datetime1">
              <a:rPr lang="en-ZA" smtClean="0"/>
              <a:t>2025/09/04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730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5FEA7-CBA3-0948-A76E-2C459879B990}" type="datetime1">
              <a:rPr lang="en-ZA" smtClean="0"/>
              <a:t>2025/09/04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4566F-1137-DA4C-9793-D93F52BCA8ED}" type="datetime1">
              <a:rPr lang="en-ZA" smtClean="0"/>
              <a:t>2025/09/04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320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1FB96-0A17-8749-A843-B45B8292CCFD}" type="datetime1">
              <a:rPr lang="en-ZA" smtClean="0"/>
              <a:t>2025/09/04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321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F6D22-ADAE-7B43-8F9E-52AD50CD8AE7}" type="datetime1">
              <a:rPr lang="en-ZA" smtClean="0"/>
              <a:t>2025/09/04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259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9BEA8-C43D-7C44-A69A-98F077409581}" type="datetime1">
              <a:rPr lang="en-ZA" smtClean="0"/>
              <a:t>2025/09/04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7095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0A68F-D802-8A4E-8318-CCF5E4C7BC32}" type="datetime1">
              <a:rPr lang="en-ZA" smtClean="0"/>
              <a:t>2025/09/04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838924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24993-7A65-D74F-A64D-6C67C9178D34}" type="datetime1">
              <a:rPr lang="en-ZA" smtClean="0"/>
              <a:t>2025/09/04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2645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696C8-D003-BD43-A4CD-8BA9FBCE70B5}" type="datetime1">
              <a:rPr lang="en-ZA" smtClean="0"/>
              <a:t>2025/09/04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5425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C33E1-B106-7A45-9269-60D04875F2BC}" type="datetime1">
              <a:rPr lang="en-ZA" smtClean="0"/>
              <a:t>2025/09/04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3832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72049-046C-9B40-AA51-2DEFB9DC7419}" type="datetime1">
              <a:rPr lang="en-ZA" smtClean="0"/>
              <a:t>2025/09/04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4923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21FEC-2792-1F46-9402-94180001DAD1}" type="datetime1">
              <a:rPr lang="en-ZA" smtClean="0"/>
              <a:t>2025/09/04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613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60388B-757F-D94A-A850-F6E64ADB1682}" type="datetime1">
              <a:rPr lang="en-ZA" smtClean="0"/>
              <a:t>2025/09/04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8AA6EE-10E7-AE46-9D86-B298884D3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0601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B0831-91FD-1F51-E519-726105DA93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9785145" cy="2387600"/>
          </a:xfrm>
        </p:spPr>
        <p:txBody>
          <a:bodyPr>
            <a:noAutofit/>
          </a:bodyPr>
          <a:lstStyle/>
          <a:p>
            <a:r>
              <a:rPr lang="en-US" sz="4000" dirty="0"/>
              <a:t>Design and Implementation of a joint communication and Radar System Optimized for Target Classification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092320-6CCC-1B89-B82A-8880056382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</a:t>
            </a:r>
            <a:r>
              <a:rPr lang="en-US" dirty="0" err="1"/>
              <a:t>rory</a:t>
            </a:r>
            <a:r>
              <a:rPr lang="en-US" dirty="0"/>
              <a:t> </a:t>
            </a:r>
            <a:r>
              <a:rPr lang="en-US" dirty="0" err="1"/>
              <a:t>schram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A6F73C-6F99-5456-7A2C-0C44BFA40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872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00BBC-8DDB-6644-79B4-D62D8D814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goals of the 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076ED-C61F-35BA-8B38-4120E5F32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41025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Chapter 1: What does a “Joint Communication and Radar System” mean?</a:t>
            </a:r>
          </a:p>
          <a:p>
            <a:pPr marL="0" indent="0">
              <a:buNone/>
            </a:pPr>
            <a:r>
              <a:rPr lang="en-US" dirty="0"/>
              <a:t>Chapter 2: Why do I want to use a communication signal in my radar?</a:t>
            </a:r>
          </a:p>
          <a:p>
            <a:pPr marL="0" indent="0">
              <a:buNone/>
            </a:pPr>
            <a:r>
              <a:rPr lang="en-US" dirty="0"/>
              <a:t>Chapter 3: What are Channel Estimations?</a:t>
            </a:r>
          </a:p>
          <a:p>
            <a:pPr marL="0" indent="0">
              <a:buNone/>
            </a:pPr>
            <a:r>
              <a:rPr lang="en-US" dirty="0"/>
              <a:t>Chapter 4: How am I utilizing Channel Estimations?</a:t>
            </a:r>
          </a:p>
          <a:p>
            <a:pPr marL="0" indent="0">
              <a:buNone/>
            </a:pPr>
            <a:r>
              <a:rPr lang="en-US" dirty="0"/>
              <a:t>Chapter 5: System design.</a:t>
            </a:r>
          </a:p>
          <a:p>
            <a:pPr marL="0" indent="0">
              <a:buNone/>
            </a:pPr>
            <a:r>
              <a:rPr lang="en-US" dirty="0"/>
              <a:t>Chapter 6: Initial results.</a:t>
            </a:r>
          </a:p>
          <a:p>
            <a:pPr marL="0" indent="0">
              <a:buNone/>
            </a:pPr>
            <a:r>
              <a:rPr lang="en-US" dirty="0"/>
              <a:t>Chapter 7: Takeaways and next steps.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E7F437-0DD7-A342-6121-FF49D6B7B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405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D918D-36D7-1D4C-EBA9-3833CC49C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4337F-A11C-8DCC-A0DE-9EB7E622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26579"/>
            <a:ext cx="9905998" cy="147857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dirty="0"/>
              <a:t>Chapter 1</a:t>
            </a:r>
            <a:br>
              <a:rPr lang="en-US" sz="5400" dirty="0"/>
            </a:br>
            <a:endParaRPr lang="en-US" sz="5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4278DA-7C26-5E7C-F598-3A759D71D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E668B7-BE43-3C8B-2F30-AB6B7A0AC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965864"/>
            <a:ext cx="9905999" cy="354171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dirty="0"/>
              <a:t>What does a “Joint Communication and Radar System” mean?</a:t>
            </a:r>
          </a:p>
        </p:txBody>
      </p:sp>
    </p:spTree>
    <p:extLst>
      <p:ext uri="{BB962C8B-B14F-4D97-AF65-F5344CB8AC3E}">
        <p14:creationId xmlns:p14="http://schemas.microsoft.com/office/powerpoint/2010/main" val="1461248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63FA4-8761-375F-BA0C-DAC5B6A24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5616C-8E48-4A20-ADAC-1F0D3D7BD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400" dirty="0"/>
              <a:t>Chapter 1: What does a “Joint Communication and Radar System” mean?</a:t>
            </a:r>
            <a:br>
              <a:rPr lang="en-US" sz="1800" dirty="0"/>
            </a:br>
            <a:r>
              <a:rPr lang="en-US" dirty="0"/>
              <a:t>”Classic” Radar Waveforms</a:t>
            </a:r>
            <a:endParaRPr lang="en-US" sz="1800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84E7A87-60A0-AF61-F2B9-CE5D4ED22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4</a:t>
            </a:fld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70682A6-268A-D698-9C76-41D718153BC0}"/>
              </a:ext>
            </a:extLst>
          </p:cNvPr>
          <p:cNvGrpSpPr/>
          <p:nvPr/>
        </p:nvGrpSpPr>
        <p:grpSpPr>
          <a:xfrm>
            <a:off x="3824546" y="1994119"/>
            <a:ext cx="3929351" cy="4071717"/>
            <a:chOff x="1141413" y="2097088"/>
            <a:chExt cx="3929351" cy="4071717"/>
          </a:xfrm>
        </p:grpSpPr>
        <p:pic>
          <p:nvPicPr>
            <p:cNvPr id="7" name="Picture 6" descr="A diagram of a radar type&#10;&#10;AI-generated content may be incorrect.">
              <a:extLst>
                <a:ext uri="{FF2B5EF4-FFF2-40B4-BE49-F238E27FC236}">
                  <a16:creationId xmlns:a16="http://schemas.microsoft.com/office/drawing/2014/main" id="{3F4BEA30-606D-BA07-A442-55854F7A6C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41413" y="2097088"/>
              <a:ext cx="3929351" cy="3702385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F1A4254-7A8C-995E-0EE5-71B1F43ED392}"/>
                </a:ext>
              </a:extLst>
            </p:cNvPr>
            <p:cNvSpPr txBox="1"/>
            <p:nvPr/>
          </p:nvSpPr>
          <p:spPr>
            <a:xfrm>
              <a:off x="1580799" y="5799473"/>
              <a:ext cx="30505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Radar Waveforms. Source [1]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F06BB40-3243-36C7-40CC-D60A92B8AFCC}"/>
              </a:ext>
            </a:extLst>
          </p:cNvPr>
          <p:cNvSpPr txBox="1"/>
          <p:nvPr/>
        </p:nvSpPr>
        <p:spPr>
          <a:xfrm>
            <a:off x="985653" y="6448302"/>
            <a:ext cx="96071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[1] </a:t>
            </a:r>
            <a:r>
              <a:rPr lang="en-US" sz="1400" dirty="0" err="1"/>
              <a:t>Malikeh</a:t>
            </a:r>
            <a:r>
              <a:rPr lang="en-US" sz="1400" dirty="0"/>
              <a:t> P. Ebrahim, Neil Tom, Duygu Nazan </a:t>
            </a:r>
            <a:r>
              <a:rPr lang="en-US" sz="1400" dirty="0" err="1"/>
              <a:t>Gençoğlan</a:t>
            </a:r>
            <a:r>
              <a:rPr lang="en-US" sz="1400" dirty="0"/>
              <a:t>, </a:t>
            </a:r>
            <a:r>
              <a:rPr lang="en-US" sz="1400" dirty="0" err="1"/>
              <a:t>Şule</a:t>
            </a:r>
            <a:r>
              <a:rPr lang="en-US" sz="1400" dirty="0"/>
              <a:t> Çolak, Mehmet R. </a:t>
            </a:r>
            <a:r>
              <a:rPr lang="en-US" sz="1400" dirty="0" err="1"/>
              <a:t>Yuce</a:t>
            </a:r>
            <a:r>
              <a:rPr lang="en-US" sz="1400" dirty="0"/>
              <a:t>, Radar and Non-Contact Sensing</a:t>
            </a:r>
          </a:p>
        </p:txBody>
      </p:sp>
    </p:spTree>
    <p:extLst>
      <p:ext uri="{BB962C8B-B14F-4D97-AF65-F5344CB8AC3E}">
        <p14:creationId xmlns:p14="http://schemas.microsoft.com/office/powerpoint/2010/main" val="29550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1FA0A-2EB4-557E-7A3D-51B92383E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FD4FB-81E3-A9FF-E1CF-F1A2D10B8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10781413" cy="1478570"/>
          </a:xfrm>
        </p:spPr>
        <p:txBody>
          <a:bodyPr>
            <a:normAutofit/>
          </a:bodyPr>
          <a:lstStyle/>
          <a:p>
            <a:r>
              <a:rPr lang="en-US" sz="1400" dirty="0"/>
              <a:t>Chapter 1: What does a “Joint Communication and Radar System” mean?</a:t>
            </a:r>
            <a:br>
              <a:rPr lang="en-US" sz="1800" dirty="0"/>
            </a:br>
            <a:r>
              <a:rPr lang="en-US" dirty="0"/>
              <a:t>digital data modulation schemes</a:t>
            </a:r>
            <a:endParaRPr lang="en-US" sz="1800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B73C318A-C702-8C96-52EA-13F013C3A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5</a:t>
            </a:fld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8F8893-4B99-A063-4D38-53210B9A15C3}"/>
              </a:ext>
            </a:extLst>
          </p:cNvPr>
          <p:cNvSpPr txBox="1"/>
          <p:nvPr/>
        </p:nvSpPr>
        <p:spPr>
          <a:xfrm>
            <a:off x="985653" y="6448302"/>
            <a:ext cx="96071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[2] Lou Frenzel, Understanding Modern Digital Modulation Techniques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0A2E09E-11DA-92AC-CF8A-1F2AE13927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5890424"/>
              </p:ext>
            </p:extLst>
          </p:nvPr>
        </p:nvGraphicFramePr>
        <p:xfrm>
          <a:off x="1725222" y="2097088"/>
          <a:ext cx="8128000" cy="29667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27341628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8681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Modulation Technique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Encodes Data Using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8760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Amplitude Shift Keying (ASK)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Amplitude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9902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Frequency Shift Keying (FSK)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2924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Binary Phase Shift Keying (BPSK)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Phase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0393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Quadrature Phase Shift Keying (QPSK)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Phase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04472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Multiple Phase Shift Keying (M-PSK)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Phase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692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Quadrature Amplitude Modulation (QAM)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Amplitude and Phase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3250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Amplitude Phase Shift Keying (APSK)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Amplitude and Phase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025910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041907D-CE83-5ED2-F80B-B56F55FB12F5}"/>
              </a:ext>
            </a:extLst>
          </p:cNvPr>
          <p:cNvSpPr txBox="1"/>
          <p:nvPr/>
        </p:nvSpPr>
        <p:spPr>
          <a:xfrm>
            <a:off x="3567731" y="5079045"/>
            <a:ext cx="4442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Digital Modulation Schemes. Adapted from [2]</a:t>
            </a:r>
          </a:p>
        </p:txBody>
      </p:sp>
    </p:spTree>
    <p:extLst>
      <p:ext uri="{BB962C8B-B14F-4D97-AF65-F5344CB8AC3E}">
        <p14:creationId xmlns:p14="http://schemas.microsoft.com/office/powerpoint/2010/main" val="1460414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29804-6783-CCC1-565D-93160C574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7C630-C1EA-DCFA-1B61-341528DDA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10781413" cy="1478570"/>
          </a:xfrm>
        </p:spPr>
        <p:txBody>
          <a:bodyPr>
            <a:normAutofit/>
          </a:bodyPr>
          <a:lstStyle/>
          <a:p>
            <a:r>
              <a:rPr lang="en-US" sz="1400" dirty="0"/>
              <a:t>Chapter 1: What does a “Joint Communication and Radar System” mean?</a:t>
            </a:r>
            <a:br>
              <a:rPr lang="en-US" sz="1800" dirty="0"/>
            </a:br>
            <a:r>
              <a:rPr lang="en-US" dirty="0"/>
              <a:t>The ”popular” digital data modulation scheme</a:t>
            </a:r>
            <a:endParaRPr lang="en-US" sz="1800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D0977A5-E665-2B74-60D7-832CC24FD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6</a:t>
            </a:fld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75FA58-6B48-F9EC-375A-879D1023FA94}"/>
              </a:ext>
            </a:extLst>
          </p:cNvPr>
          <p:cNvSpPr txBox="1"/>
          <p:nvPr/>
        </p:nvSpPr>
        <p:spPr>
          <a:xfrm>
            <a:off x="985653" y="6448302"/>
            <a:ext cx="96071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[3] Bob Witte, The Basics of 5G’s Modulation, OFDM</a:t>
            </a:r>
          </a:p>
        </p:txBody>
      </p:sp>
      <p:pic>
        <p:nvPicPr>
          <p:cNvPr id="6" name="Picture 5" descr="A diagram of a signal&#10;&#10;AI-generated content may be incorrect.">
            <a:extLst>
              <a:ext uri="{FF2B5EF4-FFF2-40B4-BE49-F238E27FC236}">
                <a16:creationId xmlns:a16="http://schemas.microsoft.com/office/drawing/2014/main" id="{5A0769F2-EC69-C88E-CC22-10E860EAF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3022" y="1928586"/>
            <a:ext cx="7772400" cy="36742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408696-206B-CDB2-18EC-A79216F9A11C}"/>
              </a:ext>
            </a:extLst>
          </p:cNvPr>
          <p:cNvSpPr txBox="1"/>
          <p:nvPr/>
        </p:nvSpPr>
        <p:spPr>
          <a:xfrm>
            <a:off x="4877389" y="5618048"/>
            <a:ext cx="1823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OFDM. Source [3]</a:t>
            </a:r>
          </a:p>
        </p:txBody>
      </p:sp>
    </p:spTree>
    <p:extLst>
      <p:ext uri="{BB962C8B-B14F-4D97-AF65-F5344CB8AC3E}">
        <p14:creationId xmlns:p14="http://schemas.microsoft.com/office/powerpoint/2010/main" val="1084177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2DD21-BFE9-2A77-D51A-27D6C6D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E2CB5-7EBA-4F4D-4F77-69F0811E3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26579"/>
            <a:ext cx="9905998" cy="147857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dirty="0"/>
              <a:t>Chapter 2</a:t>
            </a:r>
            <a:br>
              <a:rPr lang="en-US" sz="5400" dirty="0"/>
            </a:br>
            <a:endParaRPr lang="en-US" sz="5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A397A4-3AF6-E721-5CD2-40B045301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0B7C25-FE6F-F92C-C436-C490A6800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965864"/>
            <a:ext cx="9905999" cy="354171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dirty="0"/>
              <a:t>Why do I want to use a communication signal in my radar?</a:t>
            </a:r>
          </a:p>
        </p:txBody>
      </p:sp>
    </p:spTree>
    <p:extLst>
      <p:ext uri="{BB962C8B-B14F-4D97-AF65-F5344CB8AC3E}">
        <p14:creationId xmlns:p14="http://schemas.microsoft.com/office/powerpoint/2010/main" val="1968087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7FCC2-FB09-88DC-58C1-6C1364440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C591E-435E-E70E-D9C6-F98822C5B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10781413" cy="1478570"/>
          </a:xfrm>
        </p:spPr>
        <p:txBody>
          <a:bodyPr>
            <a:normAutofit/>
          </a:bodyPr>
          <a:lstStyle/>
          <a:p>
            <a:r>
              <a:rPr lang="en-US" sz="1400" dirty="0"/>
              <a:t>Chapter 2: Why do I want to use a communication signal in my radar?</a:t>
            </a:r>
            <a:br>
              <a:rPr lang="en-US" sz="1400" dirty="0"/>
            </a:br>
            <a:r>
              <a:rPr lang="en-US" dirty="0"/>
              <a:t>We want to investigate the following</a:t>
            </a:r>
            <a:endParaRPr lang="en-US" sz="1800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2BB9B8A1-859F-C204-D65C-92576D64F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8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A657DA-BE72-FD7A-528F-B8DDF661AEBE}"/>
              </a:ext>
            </a:extLst>
          </p:cNvPr>
          <p:cNvSpPr txBox="1"/>
          <p:nvPr/>
        </p:nvSpPr>
        <p:spPr>
          <a:xfrm>
            <a:off x="1141412" y="1873332"/>
            <a:ext cx="88694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primary goal of my masters is to create a radar system that can classify targets based on returned waveforms and nothing else. This can prove difficult with traditional radar waveforms…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7DE169-8522-CCDA-5B2E-C17B4741F67F}"/>
              </a:ext>
            </a:extLst>
          </p:cNvPr>
          <p:cNvSpPr txBox="1"/>
          <p:nvPr/>
        </p:nvSpPr>
        <p:spPr>
          <a:xfrm>
            <a:off x="1141409" y="2948786"/>
            <a:ext cx="88694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Therefore, we need to extract more information about the target to achieve the goal of classification.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7A9177-34F8-F7C2-2573-A130D6AB4978}"/>
              </a:ext>
            </a:extLst>
          </p:cNvPr>
          <p:cNvSpPr txBox="1"/>
          <p:nvPr/>
        </p:nvSpPr>
        <p:spPr>
          <a:xfrm>
            <a:off x="1141408" y="4822697"/>
            <a:ext cx="88694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If this system can operate as a normal radar, detecting range of targets, that is a bonus.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6394B5-1BFE-A642-EC3F-0C62A4E15EF5}"/>
              </a:ext>
            </a:extLst>
          </p:cNvPr>
          <p:cNvSpPr txBox="1"/>
          <p:nvPr/>
        </p:nvSpPr>
        <p:spPr>
          <a:xfrm>
            <a:off x="1141409" y="3747242"/>
            <a:ext cx="88694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 communication signal with the correct modulation and demodulation techniques has the potential to help extract more information about our targets in the form of CHANNEL ESTIMATIONS.</a:t>
            </a:r>
          </a:p>
        </p:txBody>
      </p:sp>
    </p:spTree>
    <p:extLst>
      <p:ext uri="{BB962C8B-B14F-4D97-AF65-F5344CB8AC3E}">
        <p14:creationId xmlns:p14="http://schemas.microsoft.com/office/powerpoint/2010/main" val="941560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9C773-450A-9E14-8F90-8DE24FCFF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41ADF-3762-0274-9912-0CA787224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26579"/>
            <a:ext cx="9905998" cy="147857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dirty="0"/>
              <a:t>Chapter 3</a:t>
            </a:r>
            <a:br>
              <a:rPr lang="en-US" sz="5400" dirty="0"/>
            </a:br>
            <a:endParaRPr lang="en-US" sz="5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7545DE-BDD4-2297-D6BA-0621F4AC0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9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19D946-7CE0-3731-3E04-19AA0497C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965864"/>
            <a:ext cx="9905999" cy="354171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dirty="0"/>
              <a:t>What are Channel Estimations?</a:t>
            </a:r>
          </a:p>
        </p:txBody>
      </p:sp>
    </p:spTree>
    <p:extLst>
      <p:ext uri="{BB962C8B-B14F-4D97-AF65-F5344CB8AC3E}">
        <p14:creationId xmlns:p14="http://schemas.microsoft.com/office/powerpoint/2010/main" val="1127255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B1035-F903-3CF0-5A40-27CA0AAE4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7CE01-26D6-163E-99C4-53EE8D029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10781413" cy="1478570"/>
          </a:xfrm>
        </p:spPr>
        <p:txBody>
          <a:bodyPr>
            <a:normAutofit/>
          </a:bodyPr>
          <a:lstStyle/>
          <a:p>
            <a:r>
              <a:rPr lang="en-US" sz="1400" dirty="0"/>
              <a:t>Chapter 3: What are Channel Estimations?</a:t>
            </a:r>
            <a:br>
              <a:rPr lang="en-US" sz="1400" dirty="0"/>
            </a:br>
            <a:r>
              <a:rPr lang="en-US" dirty="0"/>
              <a:t>the Traditional Communication Answer</a:t>
            </a:r>
            <a:endParaRPr lang="en-US" sz="1800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764CCC24-AF9E-2421-25E5-228A0135D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10</a:t>
            </a:fld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151585-760D-6BB7-4278-68B660EB27BB}"/>
              </a:ext>
            </a:extLst>
          </p:cNvPr>
          <p:cNvSpPr txBox="1"/>
          <p:nvPr/>
        </p:nvSpPr>
        <p:spPr>
          <a:xfrm>
            <a:off x="985652" y="6448302"/>
            <a:ext cx="102721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[4] Dhinesh Kumar R, Rammohan A, Revolutionizing Intelligent Transportation Systems with Cellular Vehicle-to-Everything (C-V2X) technology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09BCDD-78B7-E2FD-723F-A2E8A662AFE1}"/>
              </a:ext>
            </a:extLst>
          </p:cNvPr>
          <p:cNvSpPr txBox="1"/>
          <p:nvPr/>
        </p:nvSpPr>
        <p:spPr>
          <a:xfrm>
            <a:off x="1141411" y="1835326"/>
            <a:ext cx="91349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“Channel estimation refers to the process of estimating the characteristics of the wireless channel between the transmitter and receiver, such as signal strength, delay, and Doppler shift.” [4]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917AE6-7A4B-815C-B91A-401EC0CAFB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620"/>
          <a:stretch>
            <a:fillRect/>
          </a:stretch>
        </p:blipFill>
        <p:spPr>
          <a:xfrm>
            <a:off x="2089761" y="2598552"/>
            <a:ext cx="7238208" cy="31678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0FD734-1BF2-5AE0-2FEC-7E0704158615}"/>
              </a:ext>
            </a:extLst>
          </p:cNvPr>
          <p:cNvSpPr txBox="1"/>
          <p:nvPr/>
        </p:nvSpPr>
        <p:spPr>
          <a:xfrm>
            <a:off x="4069770" y="5738008"/>
            <a:ext cx="3278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 communication channel in a city.</a:t>
            </a:r>
          </a:p>
        </p:txBody>
      </p:sp>
    </p:spTree>
    <p:extLst>
      <p:ext uri="{BB962C8B-B14F-4D97-AF65-F5344CB8AC3E}">
        <p14:creationId xmlns:p14="http://schemas.microsoft.com/office/powerpoint/2010/main" val="3226690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EC6FB-A7CA-7FF0-33E3-5C21DFB46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F448E-E84F-CA9F-B782-DBE17CA54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10781413" cy="1478570"/>
          </a:xfrm>
        </p:spPr>
        <p:txBody>
          <a:bodyPr>
            <a:normAutofit/>
          </a:bodyPr>
          <a:lstStyle/>
          <a:p>
            <a:r>
              <a:rPr lang="en-US" sz="1400" dirty="0"/>
              <a:t>Chapter 3: What are Channel Estimations?</a:t>
            </a:r>
            <a:br>
              <a:rPr lang="en-US" sz="1400" dirty="0"/>
            </a:br>
            <a:r>
              <a:rPr lang="en-US" dirty="0"/>
              <a:t> What does this look like in real life?</a:t>
            </a:r>
            <a:endParaRPr lang="en-US" sz="1800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25C04F23-81E9-1FBA-20CE-6284B8962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11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A330DF-6B75-0209-5842-7BE78F7473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853" b="19883"/>
          <a:stretch>
            <a:fillRect/>
          </a:stretch>
        </p:blipFill>
        <p:spPr>
          <a:xfrm>
            <a:off x="2019794" y="1739342"/>
            <a:ext cx="7772400" cy="16744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733B0A-F3C5-E002-3FD4-91F5C063E3FC}"/>
              </a:ext>
            </a:extLst>
          </p:cNvPr>
          <p:cNvSpPr txBox="1"/>
          <p:nvPr/>
        </p:nvSpPr>
        <p:spPr>
          <a:xfrm>
            <a:off x="4188277" y="3413763"/>
            <a:ext cx="3815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Effects of a channel on a perfect signal.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A90178-F490-7742-458C-A64C7C0DC4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519" b="18290"/>
          <a:stretch>
            <a:fillRect/>
          </a:stretch>
        </p:blipFill>
        <p:spPr>
          <a:xfrm>
            <a:off x="2019794" y="4153668"/>
            <a:ext cx="7772400" cy="15794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C6E8C10-949A-679A-B28D-0109985699E2}"/>
              </a:ext>
            </a:extLst>
          </p:cNvPr>
          <p:cNvSpPr txBox="1"/>
          <p:nvPr/>
        </p:nvSpPr>
        <p:spPr>
          <a:xfrm>
            <a:off x="3837832" y="5733086"/>
            <a:ext cx="4516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Channel equalization using a channel estimate.</a:t>
            </a:r>
          </a:p>
        </p:txBody>
      </p:sp>
    </p:spTree>
    <p:extLst>
      <p:ext uri="{BB962C8B-B14F-4D97-AF65-F5344CB8AC3E}">
        <p14:creationId xmlns:p14="http://schemas.microsoft.com/office/powerpoint/2010/main" val="520215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6780C-A900-E6D4-A13E-3C89D5940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43D79-1EB8-660B-3610-510450192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10781413" cy="1478570"/>
          </a:xfrm>
        </p:spPr>
        <p:txBody>
          <a:bodyPr>
            <a:normAutofit/>
          </a:bodyPr>
          <a:lstStyle/>
          <a:p>
            <a:r>
              <a:rPr lang="en-US" sz="1400" dirty="0"/>
              <a:t>Chapter 3: What are Channel Estimations?</a:t>
            </a:r>
            <a:br>
              <a:rPr lang="en-US" sz="1400" dirty="0"/>
            </a:br>
            <a:r>
              <a:rPr lang="en-US" dirty="0"/>
              <a:t>How does one get a channel estimation?</a:t>
            </a:r>
            <a:endParaRPr lang="en-US" sz="1800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D71AE21-8F7B-2577-C4BE-7B6AB0B7F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12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E64E57-B09A-4652-F88B-EF9CCB046E5D}"/>
              </a:ext>
            </a:extLst>
          </p:cNvPr>
          <p:cNvSpPr txBox="1"/>
          <p:nvPr/>
        </p:nvSpPr>
        <p:spPr>
          <a:xfrm>
            <a:off x="1141412" y="6482310"/>
            <a:ext cx="96071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[5] Wang, Shuchen &amp; Gao, </a:t>
            </a:r>
            <a:r>
              <a:rPr lang="en-US" sz="1400" dirty="0" err="1"/>
              <a:t>Suixiang</a:t>
            </a:r>
            <a:r>
              <a:rPr lang="en-US" sz="1400" dirty="0"/>
              <a:t> &amp; </a:t>
            </a:r>
            <a:r>
              <a:rPr lang="en-US" sz="1400" dirty="0" err="1"/>
              <a:t>Wenguo</a:t>
            </a:r>
            <a:r>
              <a:rPr lang="en-US" sz="1400" dirty="0"/>
              <a:t>, Yang, Pilot pattern design scheme with branch and bound in PSA-OFDM system</a:t>
            </a:r>
          </a:p>
        </p:txBody>
      </p:sp>
      <p:pic>
        <p:nvPicPr>
          <p:cNvPr id="4" name="Picture 3" descr="A diagram of a signal&#10;&#10;AI-generated content may be incorrect.">
            <a:extLst>
              <a:ext uri="{FF2B5EF4-FFF2-40B4-BE49-F238E27FC236}">
                <a16:creationId xmlns:a16="http://schemas.microsoft.com/office/drawing/2014/main" id="{AD73803B-7BF4-F3C2-C87D-F5C68C4A0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982" y="2099501"/>
            <a:ext cx="5302450" cy="25066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F81FE80-9875-E40C-173A-EBC5E4D2DC96}"/>
              </a:ext>
            </a:extLst>
          </p:cNvPr>
          <p:cNvSpPr txBox="1"/>
          <p:nvPr/>
        </p:nvSpPr>
        <p:spPr>
          <a:xfrm>
            <a:off x="2179374" y="4606113"/>
            <a:ext cx="1823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OFDM. Source [3]</a:t>
            </a:r>
          </a:p>
        </p:txBody>
      </p:sp>
      <p:pic>
        <p:nvPicPr>
          <p:cNvPr id="9" name="Picture 8" descr="A graph with black and white lines&#10;&#10;AI-generated content may be incorrect.">
            <a:extLst>
              <a:ext uri="{FF2B5EF4-FFF2-40B4-BE49-F238E27FC236}">
                <a16:creationId xmlns:a16="http://schemas.microsoft.com/office/drawing/2014/main" id="{D93CFA24-0749-F456-976A-1F93B8D2B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5182" y="2603401"/>
            <a:ext cx="5614075" cy="165119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5CE0D50-CF20-9645-0B4D-A9572CB2233B}"/>
              </a:ext>
            </a:extLst>
          </p:cNvPr>
          <p:cNvSpPr txBox="1"/>
          <p:nvPr/>
        </p:nvSpPr>
        <p:spPr>
          <a:xfrm>
            <a:off x="7163707" y="4239944"/>
            <a:ext cx="3197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Pilot Symbol Patterns. Source [5]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451D36-7882-4965-3D5A-DC78F07B8CF0}"/>
              </a:ext>
            </a:extLst>
          </p:cNvPr>
          <p:cNvSpPr txBox="1"/>
          <p:nvPr/>
        </p:nvSpPr>
        <p:spPr>
          <a:xfrm>
            <a:off x="1141412" y="6234788"/>
            <a:ext cx="96071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[3] Bob Witte, The Basics of 5G’s Modulation, OFDM</a:t>
            </a:r>
          </a:p>
        </p:txBody>
      </p:sp>
    </p:spTree>
    <p:extLst>
      <p:ext uri="{BB962C8B-B14F-4D97-AF65-F5344CB8AC3E}">
        <p14:creationId xmlns:p14="http://schemas.microsoft.com/office/powerpoint/2010/main" val="26531527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A489C-4FDE-9EB0-0467-A0F3151F5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842CA-1E7E-09D5-7A28-7054DC455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26579"/>
            <a:ext cx="9905998" cy="147857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dirty="0"/>
              <a:t>Chapter 4</a:t>
            </a:r>
            <a:br>
              <a:rPr lang="en-US" sz="5400" dirty="0"/>
            </a:br>
            <a:endParaRPr lang="en-US" sz="5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3A9F0D-680C-CD17-F8D4-0829228CD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13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1FEA31-2F16-9265-97E7-A41F0CB377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965864"/>
            <a:ext cx="9905999" cy="354171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dirty="0"/>
              <a:t>How am I utilizing Channel Estimations?</a:t>
            </a:r>
          </a:p>
        </p:txBody>
      </p:sp>
    </p:spTree>
    <p:extLst>
      <p:ext uri="{BB962C8B-B14F-4D97-AF65-F5344CB8AC3E}">
        <p14:creationId xmlns:p14="http://schemas.microsoft.com/office/powerpoint/2010/main" val="22376883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14B64-9102-4AEF-E9CA-15D524641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9BF7C-BB52-E861-3F6A-D104A801F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10781413" cy="1478570"/>
          </a:xfrm>
        </p:spPr>
        <p:txBody>
          <a:bodyPr>
            <a:normAutofit/>
          </a:bodyPr>
          <a:lstStyle/>
          <a:p>
            <a:r>
              <a:rPr lang="en-US" sz="1400" dirty="0"/>
              <a:t>Chapter 4: How am I utilizing Channel Estimations?</a:t>
            </a:r>
            <a:br>
              <a:rPr lang="en-US" sz="1400" dirty="0"/>
            </a:br>
            <a:r>
              <a:rPr lang="en-US" dirty="0"/>
              <a:t>extracting channel Estimates from target reflections</a:t>
            </a:r>
            <a:endParaRPr lang="en-US" sz="1800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853D1BFE-5C9E-8D1C-9BB3-5670FDC7C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14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4DB989-8471-4961-46C8-88E087AF6D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531" b="8206"/>
          <a:stretch>
            <a:fillRect/>
          </a:stretch>
        </p:blipFill>
        <p:spPr>
          <a:xfrm>
            <a:off x="2438895" y="2097088"/>
            <a:ext cx="7314210" cy="41124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8991052-6C93-299B-658C-BEEB9A82AF17}"/>
              </a:ext>
            </a:extLst>
          </p:cNvPr>
          <p:cNvSpPr txBox="1"/>
          <p:nvPr/>
        </p:nvSpPr>
        <p:spPr>
          <a:xfrm>
            <a:off x="5450774" y="3897420"/>
            <a:ext cx="819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H(f)</a:t>
            </a:r>
          </a:p>
        </p:txBody>
      </p:sp>
    </p:spTree>
    <p:extLst>
      <p:ext uri="{BB962C8B-B14F-4D97-AF65-F5344CB8AC3E}">
        <p14:creationId xmlns:p14="http://schemas.microsoft.com/office/powerpoint/2010/main" val="21187404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EAC50-952D-C1C4-93C1-5235EEDB0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B3AF0-FE06-B1BF-C154-A74CC4F19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26579"/>
            <a:ext cx="9905998" cy="147857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dirty="0"/>
              <a:t>Chapter 5</a:t>
            </a:r>
            <a:br>
              <a:rPr lang="en-US" sz="5400" dirty="0"/>
            </a:br>
            <a:endParaRPr lang="en-US" sz="5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31BAAA-394A-4956-0984-5818604E9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15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FFDF3C-E4DC-146B-DC84-8BBD6B0EB3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965864"/>
            <a:ext cx="9905999" cy="354171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dirty="0"/>
              <a:t>System design.</a:t>
            </a:r>
          </a:p>
        </p:txBody>
      </p:sp>
    </p:spTree>
    <p:extLst>
      <p:ext uri="{BB962C8B-B14F-4D97-AF65-F5344CB8AC3E}">
        <p14:creationId xmlns:p14="http://schemas.microsoft.com/office/powerpoint/2010/main" val="41519299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EDC2B-79EF-4D4C-AD48-7BA77AB1F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D72B1-E26E-ED13-FB01-C60989EB4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400" dirty="0"/>
              <a:t>Chapter 5: system design</a:t>
            </a:r>
            <a:br>
              <a:rPr lang="en-US" sz="1800" dirty="0"/>
            </a:br>
            <a:r>
              <a:rPr lang="en-US" dirty="0"/>
              <a:t>Step 1: Design the OFDM waveform layout</a:t>
            </a:r>
            <a:endParaRPr lang="en-US" sz="18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567D92-7398-FEA8-EDFB-57A62540C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16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5685E1-2695-D981-91C6-3CB2BC90716B}"/>
              </a:ext>
            </a:extLst>
          </p:cNvPr>
          <p:cNvSpPr txBox="1"/>
          <p:nvPr/>
        </p:nvSpPr>
        <p:spPr>
          <a:xfrm>
            <a:off x="3488921" y="4681220"/>
            <a:ext cx="5210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OFDM waveform active, pilot, and data carrier layout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AE4668-10CC-645C-2263-C1B4C071ED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020" b="24580"/>
          <a:stretch>
            <a:fillRect/>
          </a:stretch>
        </p:blipFill>
        <p:spPr>
          <a:xfrm>
            <a:off x="1102515" y="2097088"/>
            <a:ext cx="9983790" cy="249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5282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E8195E-9A8E-D6AF-E11C-63EA92E45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>
            <a:extLst>
              <a:ext uri="{FF2B5EF4-FFF2-40B4-BE49-F238E27FC236}">
                <a16:creationId xmlns:a16="http://schemas.microsoft.com/office/drawing/2014/main" id="{E99A004A-E705-4ADD-99EC-C47A5FE61D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8C296DD9-4920-4569-A4D3-BFB4C975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7" name="Rectangle 5">
              <a:extLst>
                <a:ext uri="{FF2B5EF4-FFF2-40B4-BE49-F238E27FC236}">
                  <a16:creationId xmlns:a16="http://schemas.microsoft.com/office/drawing/2014/main" id="{616290DB-0B0E-40CC-B718-62D60944A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60AFE2A3-7936-482E-B022-F90A13276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C4EECE49-D85D-4373-B180-9F4F1635E8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Rectangle 8">
              <a:extLst>
                <a:ext uri="{FF2B5EF4-FFF2-40B4-BE49-F238E27FC236}">
                  <a16:creationId xmlns:a16="http://schemas.microsoft.com/office/drawing/2014/main" id="{3D0A269C-DD6E-470E-9789-7A5C88C1B3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9D9EF577-980B-4C3D-AA79-FB1A8FB37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F2A6B6D2-9443-4421-91CA-3EF1A6DD4C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1">
              <a:extLst>
                <a:ext uri="{FF2B5EF4-FFF2-40B4-BE49-F238E27FC236}">
                  <a16:creationId xmlns:a16="http://schemas.microsoft.com/office/drawing/2014/main" id="{3D9A14BB-7BAE-487D-8843-05CB9B9DFB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2">
              <a:extLst>
                <a:ext uri="{FF2B5EF4-FFF2-40B4-BE49-F238E27FC236}">
                  <a16:creationId xmlns:a16="http://schemas.microsoft.com/office/drawing/2014/main" id="{9C16B978-EFFC-4AEC-AE66-80FE210C3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3">
              <a:extLst>
                <a:ext uri="{FF2B5EF4-FFF2-40B4-BE49-F238E27FC236}">
                  <a16:creationId xmlns:a16="http://schemas.microsoft.com/office/drawing/2014/main" id="{1931730E-419A-48BE-97F4-27E6EE59DA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4">
              <a:extLst>
                <a:ext uri="{FF2B5EF4-FFF2-40B4-BE49-F238E27FC236}">
                  <a16:creationId xmlns:a16="http://schemas.microsoft.com/office/drawing/2014/main" id="{CC364B3A-B9AB-4106-AD76-6E94319BE5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5">
              <a:extLst>
                <a:ext uri="{FF2B5EF4-FFF2-40B4-BE49-F238E27FC236}">
                  <a16:creationId xmlns:a16="http://schemas.microsoft.com/office/drawing/2014/main" id="{B24328AB-A466-4E19-9885-4196A1EB06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6">
              <a:extLst>
                <a:ext uri="{FF2B5EF4-FFF2-40B4-BE49-F238E27FC236}">
                  <a16:creationId xmlns:a16="http://schemas.microsoft.com/office/drawing/2014/main" id="{00D28C03-0D41-4319-8BA1-C804D08062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7">
              <a:extLst>
                <a:ext uri="{FF2B5EF4-FFF2-40B4-BE49-F238E27FC236}">
                  <a16:creationId xmlns:a16="http://schemas.microsoft.com/office/drawing/2014/main" id="{5469D8E9-8C72-400D-B415-D628A62716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8">
              <a:extLst>
                <a:ext uri="{FF2B5EF4-FFF2-40B4-BE49-F238E27FC236}">
                  <a16:creationId xmlns:a16="http://schemas.microsoft.com/office/drawing/2014/main" id="{2465C93D-2544-415D-9709-B07094E1F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9">
              <a:extLst>
                <a:ext uri="{FF2B5EF4-FFF2-40B4-BE49-F238E27FC236}">
                  <a16:creationId xmlns:a16="http://schemas.microsoft.com/office/drawing/2014/main" id="{E1FF1E02-7B4D-4B28-B3DF-F3A1B4654B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0">
              <a:extLst>
                <a:ext uri="{FF2B5EF4-FFF2-40B4-BE49-F238E27FC236}">
                  <a16:creationId xmlns:a16="http://schemas.microsoft.com/office/drawing/2014/main" id="{335B903E-D719-406D-BDE9-BB8D50D0A6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1">
              <a:extLst>
                <a:ext uri="{FF2B5EF4-FFF2-40B4-BE49-F238E27FC236}">
                  <a16:creationId xmlns:a16="http://schemas.microsoft.com/office/drawing/2014/main" id="{E1C1E720-A438-4A6D-91B3-9AA0D5CB3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2">
              <a:extLst>
                <a:ext uri="{FF2B5EF4-FFF2-40B4-BE49-F238E27FC236}">
                  <a16:creationId xmlns:a16="http://schemas.microsoft.com/office/drawing/2014/main" id="{3FF14E1F-9A5F-47ED-B5A5-D0E84A75A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3">
              <a:extLst>
                <a:ext uri="{FF2B5EF4-FFF2-40B4-BE49-F238E27FC236}">
                  <a16:creationId xmlns:a16="http://schemas.microsoft.com/office/drawing/2014/main" id="{58537895-7597-4E34-A82E-DB80E35225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4">
              <a:extLst>
                <a:ext uri="{FF2B5EF4-FFF2-40B4-BE49-F238E27FC236}">
                  <a16:creationId xmlns:a16="http://schemas.microsoft.com/office/drawing/2014/main" id="{40BC1D92-9853-4629-92CF-EB397B773D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25">
              <a:extLst>
                <a:ext uri="{FF2B5EF4-FFF2-40B4-BE49-F238E27FC236}">
                  <a16:creationId xmlns:a16="http://schemas.microsoft.com/office/drawing/2014/main" id="{2F46138B-3BB1-433D-9FC5-FFB446DA10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26">
              <a:extLst>
                <a:ext uri="{FF2B5EF4-FFF2-40B4-BE49-F238E27FC236}">
                  <a16:creationId xmlns:a16="http://schemas.microsoft.com/office/drawing/2014/main" id="{705F8668-DED9-4E70-B012-F96EA82300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27">
              <a:extLst>
                <a:ext uri="{FF2B5EF4-FFF2-40B4-BE49-F238E27FC236}">
                  <a16:creationId xmlns:a16="http://schemas.microsoft.com/office/drawing/2014/main" id="{E0B76A71-CCB8-48C1-B58D-9F8BCC6424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28">
              <a:extLst>
                <a:ext uri="{FF2B5EF4-FFF2-40B4-BE49-F238E27FC236}">
                  <a16:creationId xmlns:a16="http://schemas.microsoft.com/office/drawing/2014/main" id="{840BFA44-4BF2-4009-B96F-25A3174A8A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29">
              <a:extLst>
                <a:ext uri="{FF2B5EF4-FFF2-40B4-BE49-F238E27FC236}">
                  <a16:creationId xmlns:a16="http://schemas.microsoft.com/office/drawing/2014/main" id="{8E3B9AA2-5D9A-45DB-9EB2-16EF74057D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0">
              <a:extLst>
                <a:ext uri="{FF2B5EF4-FFF2-40B4-BE49-F238E27FC236}">
                  <a16:creationId xmlns:a16="http://schemas.microsoft.com/office/drawing/2014/main" id="{24896DDB-3C81-493E-A789-BF769468E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1">
              <a:extLst>
                <a:ext uri="{FF2B5EF4-FFF2-40B4-BE49-F238E27FC236}">
                  <a16:creationId xmlns:a16="http://schemas.microsoft.com/office/drawing/2014/main" id="{4462B258-CAFC-4734-9312-6F569E538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2">
              <a:extLst>
                <a:ext uri="{FF2B5EF4-FFF2-40B4-BE49-F238E27FC236}">
                  <a16:creationId xmlns:a16="http://schemas.microsoft.com/office/drawing/2014/main" id="{BE8B517B-551B-4525-A281-F5F8B85B22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Rectangle 33">
              <a:extLst>
                <a:ext uri="{FF2B5EF4-FFF2-40B4-BE49-F238E27FC236}">
                  <a16:creationId xmlns:a16="http://schemas.microsoft.com/office/drawing/2014/main" id="{AF26DF84-45AD-4F87-9DC7-12E4CEF8A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4">
              <a:extLst>
                <a:ext uri="{FF2B5EF4-FFF2-40B4-BE49-F238E27FC236}">
                  <a16:creationId xmlns:a16="http://schemas.microsoft.com/office/drawing/2014/main" id="{D5ED6F7A-06FF-4699-9524-4AD60D4A06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35">
              <a:extLst>
                <a:ext uri="{FF2B5EF4-FFF2-40B4-BE49-F238E27FC236}">
                  <a16:creationId xmlns:a16="http://schemas.microsoft.com/office/drawing/2014/main" id="{46C063AD-6A18-4523-A63F-E683F88AE6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36">
              <a:extLst>
                <a:ext uri="{FF2B5EF4-FFF2-40B4-BE49-F238E27FC236}">
                  <a16:creationId xmlns:a16="http://schemas.microsoft.com/office/drawing/2014/main" id="{77414834-7414-4CCF-8C1E-3D9A10025E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37">
              <a:extLst>
                <a:ext uri="{FF2B5EF4-FFF2-40B4-BE49-F238E27FC236}">
                  <a16:creationId xmlns:a16="http://schemas.microsoft.com/office/drawing/2014/main" id="{16AF7EB8-CB66-4BD3-8606-3B72A1C3F6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38">
              <a:extLst>
                <a:ext uri="{FF2B5EF4-FFF2-40B4-BE49-F238E27FC236}">
                  <a16:creationId xmlns:a16="http://schemas.microsoft.com/office/drawing/2014/main" id="{0D458FB2-B97D-48B2-B54A-DFB4714912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39">
              <a:extLst>
                <a:ext uri="{FF2B5EF4-FFF2-40B4-BE49-F238E27FC236}">
                  <a16:creationId xmlns:a16="http://schemas.microsoft.com/office/drawing/2014/main" id="{81012E75-1279-46A3-BFEF-45390429D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40">
              <a:extLst>
                <a:ext uri="{FF2B5EF4-FFF2-40B4-BE49-F238E27FC236}">
                  <a16:creationId xmlns:a16="http://schemas.microsoft.com/office/drawing/2014/main" id="{2AE95D31-F453-4CA1-B61E-470B516A77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1">
              <a:extLst>
                <a:ext uri="{FF2B5EF4-FFF2-40B4-BE49-F238E27FC236}">
                  <a16:creationId xmlns:a16="http://schemas.microsoft.com/office/drawing/2014/main" id="{8CCD1BC5-D101-4C01-81C1-7FF8742A9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2">
              <a:extLst>
                <a:ext uri="{FF2B5EF4-FFF2-40B4-BE49-F238E27FC236}">
                  <a16:creationId xmlns:a16="http://schemas.microsoft.com/office/drawing/2014/main" id="{A17E8AE7-5402-4272-B835-4D7737FB9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3">
              <a:extLst>
                <a:ext uri="{FF2B5EF4-FFF2-40B4-BE49-F238E27FC236}">
                  <a16:creationId xmlns:a16="http://schemas.microsoft.com/office/drawing/2014/main" id="{A70BA0F0-662B-400D-96F0-856775AD8E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4">
              <a:extLst>
                <a:ext uri="{FF2B5EF4-FFF2-40B4-BE49-F238E27FC236}">
                  <a16:creationId xmlns:a16="http://schemas.microsoft.com/office/drawing/2014/main" id="{6237128A-850A-48F0-B2BD-75F22AB96A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Rectangle 45">
              <a:extLst>
                <a:ext uri="{FF2B5EF4-FFF2-40B4-BE49-F238E27FC236}">
                  <a16:creationId xmlns:a16="http://schemas.microsoft.com/office/drawing/2014/main" id="{2B197E08-8492-4A4E-B361-F87B18AA80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46">
              <a:extLst>
                <a:ext uri="{FF2B5EF4-FFF2-40B4-BE49-F238E27FC236}">
                  <a16:creationId xmlns:a16="http://schemas.microsoft.com/office/drawing/2014/main" id="{4B13D97A-EA45-4023-B87C-42D1A2C2F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47">
              <a:extLst>
                <a:ext uri="{FF2B5EF4-FFF2-40B4-BE49-F238E27FC236}">
                  <a16:creationId xmlns:a16="http://schemas.microsoft.com/office/drawing/2014/main" id="{2F7138EF-D76C-4BF2-8432-A1EABFC159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48">
              <a:extLst>
                <a:ext uri="{FF2B5EF4-FFF2-40B4-BE49-F238E27FC236}">
                  <a16:creationId xmlns:a16="http://schemas.microsoft.com/office/drawing/2014/main" id="{F43FE86F-2580-40CA-9851-CE60402D02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49">
              <a:extLst>
                <a:ext uri="{FF2B5EF4-FFF2-40B4-BE49-F238E27FC236}">
                  <a16:creationId xmlns:a16="http://schemas.microsoft.com/office/drawing/2014/main" id="{76E94030-098A-4B0D-B7BD-D1F73DC91D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0">
              <a:extLst>
                <a:ext uri="{FF2B5EF4-FFF2-40B4-BE49-F238E27FC236}">
                  <a16:creationId xmlns:a16="http://schemas.microsoft.com/office/drawing/2014/main" id="{DFCB050E-19EC-4CFF-83D8-FDA88BE8C8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1">
              <a:extLst>
                <a:ext uri="{FF2B5EF4-FFF2-40B4-BE49-F238E27FC236}">
                  <a16:creationId xmlns:a16="http://schemas.microsoft.com/office/drawing/2014/main" id="{0892EE70-B2D4-487F-945A-B01FFFCAA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2">
              <a:extLst>
                <a:ext uri="{FF2B5EF4-FFF2-40B4-BE49-F238E27FC236}">
                  <a16:creationId xmlns:a16="http://schemas.microsoft.com/office/drawing/2014/main" id="{964C8FC1-25EC-4D77-816B-89FFB96AF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3">
              <a:extLst>
                <a:ext uri="{FF2B5EF4-FFF2-40B4-BE49-F238E27FC236}">
                  <a16:creationId xmlns:a16="http://schemas.microsoft.com/office/drawing/2014/main" id="{A2B48E43-E761-478E-9E44-78D0B5EBDA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54">
              <a:extLst>
                <a:ext uri="{FF2B5EF4-FFF2-40B4-BE49-F238E27FC236}">
                  <a16:creationId xmlns:a16="http://schemas.microsoft.com/office/drawing/2014/main" id="{E8F56C10-368E-446A-9DB9-32DAD9A75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55">
              <a:extLst>
                <a:ext uri="{FF2B5EF4-FFF2-40B4-BE49-F238E27FC236}">
                  <a16:creationId xmlns:a16="http://schemas.microsoft.com/office/drawing/2014/main" id="{0F48D8AD-0D3C-4717-A781-3E158CBF1D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56">
              <a:extLst>
                <a:ext uri="{FF2B5EF4-FFF2-40B4-BE49-F238E27FC236}">
                  <a16:creationId xmlns:a16="http://schemas.microsoft.com/office/drawing/2014/main" id="{E8F033A8-FACE-4212-853A-D7325618FE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57">
              <a:extLst>
                <a:ext uri="{FF2B5EF4-FFF2-40B4-BE49-F238E27FC236}">
                  <a16:creationId xmlns:a16="http://schemas.microsoft.com/office/drawing/2014/main" id="{C7DDDBB4-AE52-4223-BE94-FA238EAAF7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58">
              <a:extLst>
                <a:ext uri="{FF2B5EF4-FFF2-40B4-BE49-F238E27FC236}">
                  <a16:creationId xmlns:a16="http://schemas.microsoft.com/office/drawing/2014/main" id="{C00175D9-DBCB-40AD-B791-5D9DD885EB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045208C-5D0E-6509-8C3D-F0F626846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7397" y="1113282"/>
            <a:ext cx="4067928" cy="23966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400" dirty="0"/>
              <a:t>Chapter 5: system design</a:t>
            </a:r>
            <a:br>
              <a:rPr lang="en-US" sz="3100" dirty="0"/>
            </a:br>
            <a:r>
              <a:rPr lang="en-US" dirty="0"/>
              <a:t>Step 2: implement in code</a:t>
            </a:r>
          </a:p>
        </p:txBody>
      </p:sp>
      <p:sp>
        <p:nvSpPr>
          <p:cNvPr id="72" name="Round Single Corner Rectangle 26">
            <a:extLst>
              <a:ext uri="{FF2B5EF4-FFF2-40B4-BE49-F238E27FC236}">
                <a16:creationId xmlns:a16="http://schemas.microsoft.com/office/drawing/2014/main" id="{60DDA88A-8E06-4A68-98C1-2518CE621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8949" y="808057"/>
            <a:ext cx="3281362" cy="2536764"/>
          </a:xfrm>
          <a:prstGeom prst="round1Rect">
            <a:avLst>
              <a:gd name="adj" fmla="val 6363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ound Diagonal Corner Rectangle 25">
            <a:extLst>
              <a:ext uri="{FF2B5EF4-FFF2-40B4-BE49-F238E27FC236}">
                <a16:creationId xmlns:a16="http://schemas.microsoft.com/office/drawing/2014/main" id="{4FBB5987-75C4-42FA-B1A5-F321CC39E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62176" y="808056"/>
            <a:ext cx="3282696" cy="2536765"/>
          </a:xfrm>
          <a:prstGeom prst="round2DiagRect">
            <a:avLst>
              <a:gd name="adj1" fmla="val 0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diagram of a full symbol&#10;&#10;AI-generated content may be incorrect.">
            <a:extLst>
              <a:ext uri="{FF2B5EF4-FFF2-40B4-BE49-F238E27FC236}">
                <a16:creationId xmlns:a16="http://schemas.microsoft.com/office/drawing/2014/main" id="{34E09686-0BC4-D92B-8336-7E339F7548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0824" y="1093788"/>
            <a:ext cx="2462943" cy="1908781"/>
          </a:xfrm>
          <a:prstGeom prst="rect">
            <a:avLst/>
          </a:prstGeom>
        </p:spPr>
      </p:pic>
      <p:sp>
        <p:nvSpPr>
          <p:cNvPr id="76" name="Round Diagonal Corner Rectangle 12">
            <a:extLst>
              <a:ext uri="{FF2B5EF4-FFF2-40B4-BE49-F238E27FC236}">
                <a16:creationId xmlns:a16="http://schemas.microsoft.com/office/drawing/2014/main" id="{A77CD59B-DC5B-4792-8D83-AD4C90713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9326" y="3505685"/>
            <a:ext cx="3282696" cy="2536765"/>
          </a:xfrm>
          <a:prstGeom prst="round2DiagRect">
            <a:avLst>
              <a:gd name="adj1" fmla="val 0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graph with orange and blue lines&#10;&#10;AI-generated content may be incorrect.">
            <a:extLst>
              <a:ext uri="{FF2B5EF4-FFF2-40B4-BE49-F238E27FC236}">
                <a16:creationId xmlns:a16="http://schemas.microsoft.com/office/drawing/2014/main" id="{563BF5E0-3656-4CDD-F8FA-BBBA011878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845" y="3841248"/>
            <a:ext cx="2559284" cy="1890114"/>
          </a:xfrm>
          <a:prstGeom prst="rect">
            <a:avLst/>
          </a:prstGeom>
        </p:spPr>
      </p:pic>
      <p:sp>
        <p:nvSpPr>
          <p:cNvPr id="78" name="Round Single Corner Rectangle 27">
            <a:extLst>
              <a:ext uri="{FF2B5EF4-FFF2-40B4-BE49-F238E27FC236}">
                <a16:creationId xmlns:a16="http://schemas.microsoft.com/office/drawing/2014/main" id="{0B95FD45-BF6D-4CD6-9734-A4CC773106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4251677" y="3505687"/>
            <a:ext cx="3281238" cy="2536763"/>
          </a:xfrm>
          <a:prstGeom prst="round1Rect">
            <a:avLst>
              <a:gd name="adj" fmla="val 9975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A graph with blue dots&#10;&#10;AI-generated content may be incorrect.">
            <a:extLst>
              <a:ext uri="{FF2B5EF4-FFF2-40B4-BE49-F238E27FC236}">
                <a16:creationId xmlns:a16="http://schemas.microsoft.com/office/drawing/2014/main" id="{81CBF4C0-E66A-894E-B3F5-D7D6AFBCA1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5662" y="1084282"/>
            <a:ext cx="2571584" cy="1890114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6961F3-B0CF-94A9-0023-1BCEE6A95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6911" y="6309360"/>
            <a:ext cx="7710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C8AA6EE-10E7-AE46-9D86-B298884D3863}" type="slidenum">
              <a:rPr lang="en-US" smtClean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  <p:pic>
        <p:nvPicPr>
          <p:cNvPr id="9" name="Picture 8" descr="A graph of orange and blue lines&#10;&#10;AI-generated content may be incorrect.">
            <a:extLst>
              <a:ext uri="{FF2B5EF4-FFF2-40B4-BE49-F238E27FC236}">
                <a16:creationId xmlns:a16="http://schemas.microsoft.com/office/drawing/2014/main" id="{39353425-59A7-82BC-33D1-4BF8A6596A6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3785"/>
          <a:stretch>
            <a:fillRect/>
          </a:stretch>
        </p:blipFill>
        <p:spPr>
          <a:xfrm>
            <a:off x="4634680" y="3829010"/>
            <a:ext cx="2537687" cy="189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2520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D1B75-34CE-BE93-8DBF-174CFB529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6139D-2761-37BC-41AB-799715B67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400" dirty="0"/>
              <a:t>Chapter 5: system design</a:t>
            </a:r>
            <a:br>
              <a:rPr lang="en-US" sz="1800" dirty="0"/>
            </a:br>
            <a:r>
              <a:rPr lang="en-US" dirty="0"/>
              <a:t>Step 3: Transmit and receive waveform</a:t>
            </a:r>
            <a:endParaRPr lang="en-US" sz="18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4D9B57-7009-D086-952D-33C28475B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18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1FA3ED-466D-DD91-1037-5CBA29EC7030}"/>
              </a:ext>
            </a:extLst>
          </p:cNvPr>
          <p:cNvSpPr txBox="1"/>
          <p:nvPr/>
        </p:nvSpPr>
        <p:spPr>
          <a:xfrm>
            <a:off x="1263065" y="4760912"/>
            <a:ext cx="2435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An example of a target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399779-4919-39AF-C5E5-C2AE7BAEE5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328" b="4805"/>
          <a:stretch>
            <a:fillRect/>
          </a:stretch>
        </p:blipFill>
        <p:spPr>
          <a:xfrm>
            <a:off x="656344" y="2284467"/>
            <a:ext cx="3648918" cy="2476445"/>
          </a:xfrm>
          <a:prstGeom prst="rect">
            <a:avLst/>
          </a:prstGeom>
        </p:spPr>
      </p:pic>
      <p:pic>
        <p:nvPicPr>
          <p:cNvPr id="8" name="Picture 7" descr="A shelf with wires and wires on it&#10;&#10;AI-generated content may be incorrect.">
            <a:extLst>
              <a:ext uri="{FF2B5EF4-FFF2-40B4-BE49-F238E27FC236}">
                <a16:creationId xmlns:a16="http://schemas.microsoft.com/office/drawing/2014/main" id="{66450482-ABD2-4E37-274D-D69231003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7102" y="2284466"/>
            <a:ext cx="3301925" cy="247644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3558B49-3964-B6EB-69AB-1C76C1D71E26}"/>
              </a:ext>
            </a:extLst>
          </p:cNvPr>
          <p:cNvSpPr txBox="1"/>
          <p:nvPr/>
        </p:nvSpPr>
        <p:spPr>
          <a:xfrm>
            <a:off x="8863945" y="4760911"/>
            <a:ext cx="19882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SDR and Ingest Rig</a:t>
            </a:r>
          </a:p>
        </p:txBody>
      </p:sp>
      <p:pic>
        <p:nvPicPr>
          <p:cNvPr id="11" name="Picture 10" descr="A desk with a white board and a computer&#10;&#10;AI-generated content may be incorrect.">
            <a:extLst>
              <a:ext uri="{FF2B5EF4-FFF2-40B4-BE49-F238E27FC236}">
                <a16:creationId xmlns:a16="http://schemas.microsoft.com/office/drawing/2014/main" id="{B9460F90-3651-76CD-0D36-FEB04C5A1B5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605" t="25409" r="31205" b="27214"/>
          <a:stretch>
            <a:fillRect/>
          </a:stretch>
        </p:blipFill>
        <p:spPr>
          <a:xfrm>
            <a:off x="4656493" y="2284468"/>
            <a:ext cx="3079736" cy="247644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5F5536D-6966-8610-3447-A0DE5E0CD28A}"/>
              </a:ext>
            </a:extLst>
          </p:cNvPr>
          <p:cNvSpPr txBox="1"/>
          <p:nvPr/>
        </p:nvSpPr>
        <p:spPr>
          <a:xfrm>
            <a:off x="5522864" y="4760911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Antenna Setup</a:t>
            </a:r>
          </a:p>
        </p:txBody>
      </p:sp>
    </p:spTree>
    <p:extLst>
      <p:ext uri="{BB962C8B-B14F-4D97-AF65-F5344CB8AC3E}">
        <p14:creationId xmlns:p14="http://schemas.microsoft.com/office/powerpoint/2010/main" val="13740235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1817E-C0B2-9957-B6BE-D242D49AA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8B3F2-EAED-981F-2E3D-890BE06E8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400" dirty="0"/>
              <a:t>Chapter 5: system design</a:t>
            </a:r>
            <a:br>
              <a:rPr lang="en-US" sz="1800" dirty="0"/>
            </a:br>
            <a:r>
              <a:rPr lang="en-US" dirty="0"/>
              <a:t>Step 4: Ingest Raw data</a:t>
            </a:r>
            <a:endParaRPr lang="en-US" sz="18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8DB3A6-6FE5-744A-90BC-9A5C6FED2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19</a:t>
            </a:fld>
            <a:endParaRPr lang="en-US"/>
          </a:p>
        </p:txBody>
      </p:sp>
      <p:pic>
        <p:nvPicPr>
          <p:cNvPr id="3" name="Picture 2" descr="A group of graphs showing different types of data&#10;&#10;AI-generated content may be incorrect.">
            <a:extLst>
              <a:ext uri="{FF2B5EF4-FFF2-40B4-BE49-F238E27FC236}">
                <a16:creationId xmlns:a16="http://schemas.microsoft.com/office/drawing/2014/main" id="{3D419B2F-4AAB-B608-BEAC-1BC09A7EB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519" y="1763500"/>
            <a:ext cx="8130961" cy="43365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7C1014-FCAA-5BB2-D52E-9D50D9300DE6}"/>
              </a:ext>
            </a:extLst>
          </p:cNvPr>
          <p:cNvSpPr txBox="1"/>
          <p:nvPr/>
        </p:nvSpPr>
        <p:spPr>
          <a:xfrm>
            <a:off x="5203591" y="6100012"/>
            <a:ext cx="1781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Ingestion process</a:t>
            </a:r>
          </a:p>
        </p:txBody>
      </p:sp>
    </p:spTree>
    <p:extLst>
      <p:ext uri="{BB962C8B-B14F-4D97-AF65-F5344CB8AC3E}">
        <p14:creationId xmlns:p14="http://schemas.microsoft.com/office/powerpoint/2010/main" val="15188861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D7E2A-BF00-F7E1-17E3-093C09EE5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9656B-7F06-A56C-69F0-B4D63046A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10739119" cy="1478570"/>
          </a:xfrm>
        </p:spPr>
        <p:txBody>
          <a:bodyPr>
            <a:normAutofit/>
          </a:bodyPr>
          <a:lstStyle/>
          <a:p>
            <a:r>
              <a:rPr lang="en-US" sz="1400" dirty="0"/>
              <a:t>Chapter 5: system design</a:t>
            </a:r>
            <a:br>
              <a:rPr lang="en-US" sz="1800" dirty="0"/>
            </a:br>
            <a:r>
              <a:rPr lang="en-US" dirty="0"/>
              <a:t>Step 4: Ingest Raw data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7162CD-0784-EA55-95DF-B2C8B4FBA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503" y="1787347"/>
            <a:ext cx="7480993" cy="409592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3E11EC-1805-9EF0-0685-29F1E5E03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20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481CEC-9E99-2B30-7B22-FB2CD602FD33}"/>
              </a:ext>
            </a:extLst>
          </p:cNvPr>
          <p:cNvSpPr txBox="1"/>
          <p:nvPr/>
        </p:nvSpPr>
        <p:spPr>
          <a:xfrm>
            <a:off x="3340190" y="5883274"/>
            <a:ext cx="5511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Channel estimation and received QAM constellation map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CAF3AD-970B-1137-2EDD-CDFBA13656C3}"/>
              </a:ext>
            </a:extLst>
          </p:cNvPr>
          <p:cNvSpPr/>
          <p:nvPr/>
        </p:nvSpPr>
        <p:spPr>
          <a:xfrm>
            <a:off x="7130562" y="1804931"/>
            <a:ext cx="2277207" cy="2348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A4CAD9-6319-E809-A9F5-CDD05C1F3E88}"/>
              </a:ext>
            </a:extLst>
          </p:cNvPr>
          <p:cNvSpPr txBox="1"/>
          <p:nvPr/>
        </p:nvSpPr>
        <p:spPr>
          <a:xfrm>
            <a:off x="7209692" y="1701380"/>
            <a:ext cx="2249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  <a:lumOff val="35000"/>
                  </a:schemeClr>
                </a:solidFill>
              </a:rPr>
              <a:t>Received Constellation</a:t>
            </a:r>
          </a:p>
        </p:txBody>
      </p:sp>
    </p:spTree>
    <p:extLst>
      <p:ext uri="{BB962C8B-B14F-4D97-AF65-F5344CB8AC3E}">
        <p14:creationId xmlns:p14="http://schemas.microsoft.com/office/powerpoint/2010/main" val="19377093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6F9BB-75B6-1EE3-81DE-F2D1287D6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FA63B-E5E7-028C-CBB6-B323B6B7F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10739119" cy="1478570"/>
          </a:xfrm>
        </p:spPr>
        <p:txBody>
          <a:bodyPr>
            <a:normAutofit/>
          </a:bodyPr>
          <a:lstStyle/>
          <a:p>
            <a:r>
              <a:rPr lang="en-US" sz="1400" dirty="0"/>
              <a:t>Chapter 5: system design</a:t>
            </a:r>
            <a:br>
              <a:rPr lang="en-US" sz="1800" dirty="0"/>
            </a:br>
            <a:r>
              <a:rPr lang="en-US" dirty="0"/>
              <a:t>Step 5: Collect channel estimates and use PCA analysis with SVM to classify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E8C99-87B1-943F-AD22-5CA192A1C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21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02DB6D-9693-2689-22EB-CAF8363A83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989" t="6609" r="11190" b="8056"/>
          <a:stretch>
            <a:fillRect/>
          </a:stretch>
        </p:blipFill>
        <p:spPr>
          <a:xfrm>
            <a:off x="1141412" y="2097088"/>
            <a:ext cx="3774243" cy="34975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3B7F984-2805-26F5-9F10-82E2814FEF20}"/>
              </a:ext>
            </a:extLst>
          </p:cNvPr>
          <p:cNvSpPr txBox="1"/>
          <p:nvPr/>
        </p:nvSpPr>
        <p:spPr>
          <a:xfrm>
            <a:off x="1299309" y="5594684"/>
            <a:ext cx="3458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PCA Space of 1250 data captures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5D559E2-12C0-6EBE-EFA1-D52101D027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333" b="1227"/>
          <a:stretch>
            <a:fillRect/>
          </a:stretch>
        </p:blipFill>
        <p:spPr>
          <a:xfrm>
            <a:off x="5486081" y="2161027"/>
            <a:ext cx="5824024" cy="336971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93D2AF9-100E-EEF3-A0AE-0C856FC77CF3}"/>
              </a:ext>
            </a:extLst>
          </p:cNvPr>
          <p:cNvSpPr txBox="1"/>
          <p:nvPr/>
        </p:nvSpPr>
        <p:spPr>
          <a:xfrm>
            <a:off x="6314066" y="5594684"/>
            <a:ext cx="4168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SVM Performance on 80/20 train-test split</a:t>
            </a:r>
          </a:p>
        </p:txBody>
      </p:sp>
    </p:spTree>
    <p:extLst>
      <p:ext uri="{BB962C8B-B14F-4D97-AF65-F5344CB8AC3E}">
        <p14:creationId xmlns:p14="http://schemas.microsoft.com/office/powerpoint/2010/main" val="30448890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DC943-1D9F-49B9-42BA-D32E786C9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85485-23FB-EEEF-A3A1-487992B08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26579"/>
            <a:ext cx="9905998" cy="147857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dirty="0"/>
              <a:t>Chapter 6</a:t>
            </a:r>
            <a:br>
              <a:rPr lang="en-US" sz="5400" dirty="0"/>
            </a:br>
            <a:endParaRPr lang="en-US" sz="5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11A909-264D-D50D-9607-C2A6C7FAA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22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37136D-9625-C9DC-9AD4-B5DA3228C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965864"/>
            <a:ext cx="9905999" cy="354171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dirty="0"/>
              <a:t>Initial results.</a:t>
            </a:r>
          </a:p>
        </p:txBody>
      </p:sp>
    </p:spTree>
    <p:extLst>
      <p:ext uri="{BB962C8B-B14F-4D97-AF65-F5344CB8AC3E}">
        <p14:creationId xmlns:p14="http://schemas.microsoft.com/office/powerpoint/2010/main" val="19179296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0AA62-B1D5-BC54-D47D-DD916B2C9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229AE-CCA2-0901-BF48-96FDB4C67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10739119" cy="1478570"/>
          </a:xfrm>
        </p:spPr>
        <p:txBody>
          <a:bodyPr>
            <a:normAutofit/>
          </a:bodyPr>
          <a:lstStyle/>
          <a:p>
            <a:r>
              <a:rPr lang="en-US" sz="1400" dirty="0"/>
              <a:t>Chapter 6: Initial Results</a:t>
            </a:r>
            <a:br>
              <a:rPr lang="en-US" sz="1800" dirty="0"/>
            </a:br>
            <a:r>
              <a:rPr lang="en-US" dirty="0"/>
              <a:t>Testing Procedure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F17B8-FA32-DFC1-64B4-AC17E698C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23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A9B1C6-A830-F547-4041-18D6A67BE704}"/>
              </a:ext>
            </a:extLst>
          </p:cNvPr>
          <p:cNvSpPr txBox="1"/>
          <p:nvPr/>
        </p:nvSpPr>
        <p:spPr>
          <a:xfrm>
            <a:off x="1141412" y="2551837"/>
            <a:ext cx="935211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Test 1: Communication system characterization</a:t>
            </a:r>
          </a:p>
          <a:p>
            <a:r>
              <a:rPr lang="en-US" sz="3600" dirty="0"/>
              <a:t>Test 2: Range radar capabilities</a:t>
            </a:r>
          </a:p>
          <a:p>
            <a:r>
              <a:rPr lang="en-US" sz="3600" dirty="0"/>
              <a:t>Test 3: Classification abilities (indoor and outdoor)</a:t>
            </a:r>
          </a:p>
        </p:txBody>
      </p:sp>
    </p:spTree>
    <p:extLst>
      <p:ext uri="{BB962C8B-B14F-4D97-AF65-F5344CB8AC3E}">
        <p14:creationId xmlns:p14="http://schemas.microsoft.com/office/powerpoint/2010/main" val="32428439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7D0A0-12B1-B6F3-0BBA-537F8EAF1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07022-3FDF-B346-1216-082B372BD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10739119" cy="1478570"/>
          </a:xfrm>
        </p:spPr>
        <p:txBody>
          <a:bodyPr>
            <a:normAutofit/>
          </a:bodyPr>
          <a:lstStyle/>
          <a:p>
            <a:r>
              <a:rPr lang="en-US" sz="1400" dirty="0"/>
              <a:t>Chapter 6: Initial Results</a:t>
            </a:r>
            <a:br>
              <a:rPr lang="en-US" sz="1800" dirty="0"/>
            </a:br>
            <a:r>
              <a:rPr lang="en-US" dirty="0"/>
              <a:t>Test 1: Communication system characterization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14D64C-4F5F-880C-5060-E033F3544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24</a:t>
            </a:fld>
            <a:endParaRPr lang="en-US"/>
          </a:p>
        </p:txBody>
      </p:sp>
      <p:pic>
        <p:nvPicPr>
          <p:cNvPr id="4" name="Picture 3" descr="A graph with a line&#10;&#10;AI-generated content may be incorrect.">
            <a:extLst>
              <a:ext uri="{FF2B5EF4-FFF2-40B4-BE49-F238E27FC236}">
                <a16:creationId xmlns:a16="http://schemas.microsoft.com/office/drawing/2014/main" id="{49DDB0D9-5500-5903-4A77-A9F4D67C5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1771" y="1714202"/>
            <a:ext cx="6948455" cy="41690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3F7BD7E-4FFD-8927-E9B8-565354A2E4BE}"/>
              </a:ext>
            </a:extLst>
          </p:cNvPr>
          <p:cNvSpPr txBox="1"/>
          <p:nvPr/>
        </p:nvSpPr>
        <p:spPr>
          <a:xfrm>
            <a:off x="3451043" y="5938454"/>
            <a:ext cx="52899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Graph showing initial results regarding characterization</a:t>
            </a:r>
          </a:p>
          <a:p>
            <a:pPr algn="ctr"/>
            <a:r>
              <a:rPr lang="en-US" dirty="0"/>
              <a:t>of the communication ability of the system. </a:t>
            </a:r>
          </a:p>
        </p:txBody>
      </p:sp>
    </p:spTree>
    <p:extLst>
      <p:ext uri="{BB962C8B-B14F-4D97-AF65-F5344CB8AC3E}">
        <p14:creationId xmlns:p14="http://schemas.microsoft.com/office/powerpoint/2010/main" val="34337562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C0258-B236-0EF0-74ED-40D2DDFF5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9F6B4-B325-C724-9C03-3B43EF776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10739119" cy="1478570"/>
          </a:xfrm>
        </p:spPr>
        <p:txBody>
          <a:bodyPr>
            <a:normAutofit/>
          </a:bodyPr>
          <a:lstStyle/>
          <a:p>
            <a:r>
              <a:rPr lang="en-US" sz="1400" dirty="0"/>
              <a:t>Chapter 6: Initial Results</a:t>
            </a:r>
            <a:br>
              <a:rPr lang="en-US" sz="1800" dirty="0"/>
            </a:br>
            <a:r>
              <a:rPr lang="en-US" dirty="0"/>
              <a:t>Test 2: Range radar capabilities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71CB0-82EA-CB62-4AE7-473A661E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25</a:t>
            </a:fld>
            <a:endParaRPr lang="en-US"/>
          </a:p>
        </p:txBody>
      </p:sp>
      <p:pic>
        <p:nvPicPr>
          <p:cNvPr id="5" name="Picture 4" descr="A screen shot of a graph&#10;&#10;AI-generated content may be incorrect.">
            <a:extLst>
              <a:ext uri="{FF2B5EF4-FFF2-40B4-BE49-F238E27FC236}">
                <a16:creationId xmlns:a16="http://schemas.microsoft.com/office/drawing/2014/main" id="{53ECA78F-FBB7-DD92-DAF4-4D0FD75129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865" t="5107" r="19213" b="11546"/>
          <a:stretch>
            <a:fillRect/>
          </a:stretch>
        </p:blipFill>
        <p:spPr>
          <a:xfrm>
            <a:off x="1141412" y="1792224"/>
            <a:ext cx="4106783" cy="34991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98CB4B0-5B86-B0AD-5A64-0506BFF39A0A}"/>
              </a:ext>
            </a:extLst>
          </p:cNvPr>
          <p:cNvSpPr txBox="1"/>
          <p:nvPr/>
        </p:nvSpPr>
        <p:spPr>
          <a:xfrm>
            <a:off x="2510481" y="5291328"/>
            <a:ext cx="1368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Target at 9m</a:t>
            </a:r>
          </a:p>
        </p:txBody>
      </p:sp>
      <p:pic>
        <p:nvPicPr>
          <p:cNvPr id="10" name="Picture 9" descr="A screen shot of a graph&#10;&#10;AI-generated content may be incorrect.">
            <a:extLst>
              <a:ext uri="{FF2B5EF4-FFF2-40B4-BE49-F238E27FC236}">
                <a16:creationId xmlns:a16="http://schemas.microsoft.com/office/drawing/2014/main" id="{F536D636-8B98-D6A4-9303-8EF071C710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235" t="10099" r="17234" b="6717"/>
          <a:stretch>
            <a:fillRect/>
          </a:stretch>
        </p:blipFill>
        <p:spPr>
          <a:xfrm>
            <a:off x="6096000" y="1792224"/>
            <a:ext cx="4209453" cy="349910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6D6FC09-3D84-5E77-3436-BB594A595A7C}"/>
              </a:ext>
            </a:extLst>
          </p:cNvPr>
          <p:cNvSpPr txBox="1"/>
          <p:nvPr/>
        </p:nvSpPr>
        <p:spPr>
          <a:xfrm>
            <a:off x="6833428" y="5264136"/>
            <a:ext cx="27345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Target at 9m</a:t>
            </a:r>
          </a:p>
          <a:p>
            <a:pPr algn="ctr"/>
            <a:r>
              <a:rPr lang="en-US" dirty="0"/>
              <a:t>(lumped into first range bin)</a:t>
            </a:r>
          </a:p>
        </p:txBody>
      </p:sp>
    </p:spTree>
    <p:extLst>
      <p:ext uri="{BB962C8B-B14F-4D97-AF65-F5344CB8AC3E}">
        <p14:creationId xmlns:p14="http://schemas.microsoft.com/office/powerpoint/2010/main" val="7439602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650C3-5732-B82E-A5FC-A03CE1E4E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55D33-A091-452E-6630-55CB11F34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10739119" cy="1478570"/>
          </a:xfrm>
        </p:spPr>
        <p:txBody>
          <a:bodyPr>
            <a:normAutofit/>
          </a:bodyPr>
          <a:lstStyle/>
          <a:p>
            <a:r>
              <a:rPr lang="en-US" sz="1400" dirty="0"/>
              <a:t>Chapter 6: Initial Results</a:t>
            </a:r>
            <a:br>
              <a:rPr lang="en-US" sz="1800" dirty="0"/>
            </a:br>
            <a:r>
              <a:rPr lang="en-US" dirty="0"/>
              <a:t>Test 3: Classification abilities (indoor)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5C5A0-163C-3D3B-D67F-03F9D06DC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26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A21C394-FD74-8829-7063-A553AD4ACC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8868887"/>
              </p:ext>
            </p:extLst>
          </p:nvPr>
        </p:nvGraphicFramePr>
        <p:xfrm>
          <a:off x="2032000" y="2097088"/>
          <a:ext cx="8127999" cy="29362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152628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17570907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2608152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Testing Conditions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Prediction Accuracy of SVM</a:t>
                      </a:r>
                    </a:p>
                    <a:p>
                      <a:pPr algn="ctr"/>
                      <a:r>
                        <a:rPr lang="en-US" dirty="0"/>
                        <a:t>Trained on PC 1-10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Prediction Accuracy of SVM</a:t>
                      </a:r>
                    </a:p>
                    <a:p>
                      <a:pPr algn="ctr"/>
                      <a:r>
                        <a:rPr lang="en-US" dirty="0"/>
                        <a:t>Trained on PC 2-10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6113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6 targets at 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0.99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8651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6 targets at 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0.98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6943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6 targets rotating through 5 orientations at 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0.97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0868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6 targets in free movement at 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0.63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517305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B88C6A5-03AF-87D3-840D-5579DB310E9D}"/>
              </a:ext>
            </a:extLst>
          </p:cNvPr>
          <p:cNvSpPr txBox="1"/>
          <p:nvPr/>
        </p:nvSpPr>
        <p:spPr>
          <a:xfrm>
            <a:off x="3336012" y="5033328"/>
            <a:ext cx="5519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Table showing results from initial indoor classification tests</a:t>
            </a:r>
          </a:p>
        </p:txBody>
      </p:sp>
    </p:spTree>
    <p:extLst>
      <p:ext uri="{BB962C8B-B14F-4D97-AF65-F5344CB8AC3E}">
        <p14:creationId xmlns:p14="http://schemas.microsoft.com/office/powerpoint/2010/main" val="4415707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ECB7E-9887-5910-09F3-3175CA3AA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1B3FC-AE57-2153-5D09-507805EC6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10739119" cy="1478570"/>
          </a:xfrm>
        </p:spPr>
        <p:txBody>
          <a:bodyPr>
            <a:normAutofit/>
          </a:bodyPr>
          <a:lstStyle/>
          <a:p>
            <a:r>
              <a:rPr lang="en-US" sz="1400" dirty="0"/>
              <a:t>Chapter 6: Initial Results</a:t>
            </a:r>
            <a:br>
              <a:rPr lang="en-US" sz="1800" dirty="0"/>
            </a:br>
            <a:r>
              <a:rPr lang="en-US" dirty="0"/>
              <a:t>Test 3: Classification abilities (Outdoor)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8DE9D-41F9-8758-4510-3E37A17FB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27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6CBB0B-57F7-F7EB-1942-17A517C397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9200719"/>
              </p:ext>
            </p:extLst>
          </p:nvPr>
        </p:nvGraphicFramePr>
        <p:xfrm>
          <a:off x="2032000" y="2522061"/>
          <a:ext cx="8127999" cy="16560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152628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17570907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2608152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Testing Conditions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Prediction Accuracy of SVM</a:t>
                      </a:r>
                    </a:p>
                    <a:p>
                      <a:pPr algn="ctr"/>
                      <a:r>
                        <a:rPr lang="en-US" dirty="0"/>
                        <a:t>Trained on PC 1-10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Prediction Accuracy of SVM</a:t>
                      </a:r>
                    </a:p>
                    <a:p>
                      <a:pPr algn="ctr"/>
                      <a:r>
                        <a:rPr lang="en-US" dirty="0"/>
                        <a:t>Trained on PC 2-10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6113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5 targets at 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0.98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8651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5 targets at 12m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0.96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694317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89D9962-1F41-7B69-F02F-7B2C256C942F}"/>
              </a:ext>
            </a:extLst>
          </p:cNvPr>
          <p:cNvSpPr txBox="1"/>
          <p:nvPr/>
        </p:nvSpPr>
        <p:spPr>
          <a:xfrm>
            <a:off x="3272694" y="4178141"/>
            <a:ext cx="5646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Table showing results from initial outdoor classification tests</a:t>
            </a:r>
          </a:p>
        </p:txBody>
      </p:sp>
    </p:spTree>
    <p:extLst>
      <p:ext uri="{BB962C8B-B14F-4D97-AF65-F5344CB8AC3E}">
        <p14:creationId xmlns:p14="http://schemas.microsoft.com/office/powerpoint/2010/main" val="26572242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EDA38-B393-A04A-E8A4-090FB1C7A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E2530-4DEA-F515-A0FB-7F8641FAA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26579"/>
            <a:ext cx="9905998" cy="147857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dirty="0"/>
              <a:t>Chapter 7</a:t>
            </a:r>
            <a:br>
              <a:rPr lang="en-US" sz="5400" dirty="0"/>
            </a:br>
            <a:endParaRPr lang="en-US" sz="5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F6ACC5-A45D-B174-3836-80305D8D5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28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FDDA74-6FF8-5E39-52A8-8C56E2902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965864"/>
            <a:ext cx="9905999" cy="354171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dirty="0"/>
              <a:t>Takeaways and next steps.</a:t>
            </a:r>
          </a:p>
        </p:txBody>
      </p:sp>
    </p:spTree>
    <p:extLst>
      <p:ext uri="{BB962C8B-B14F-4D97-AF65-F5344CB8AC3E}">
        <p14:creationId xmlns:p14="http://schemas.microsoft.com/office/powerpoint/2010/main" val="5875129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FD711-2C43-C2A2-5C3E-938C085FF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C51C1-95FE-8A83-84E0-D63E84A9C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10739119" cy="1478570"/>
          </a:xfrm>
        </p:spPr>
        <p:txBody>
          <a:bodyPr>
            <a:normAutofit/>
          </a:bodyPr>
          <a:lstStyle/>
          <a:p>
            <a:r>
              <a:rPr lang="en-US" dirty="0"/>
              <a:t>Chapter 7: Takeaways and next steps.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C9EB3-76FB-8219-2C7C-AFCE51AB7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29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D55ABC-8650-E565-CD26-2E48B466F372}"/>
              </a:ext>
            </a:extLst>
          </p:cNvPr>
          <p:cNvSpPr txBox="1"/>
          <p:nvPr/>
        </p:nvSpPr>
        <p:spPr>
          <a:xfrm>
            <a:off x="1141412" y="1720840"/>
            <a:ext cx="1023372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dirty="0"/>
              <a:t>Takeaways: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Have a well-structured testing procedure before doing field tests, especially when you have lots of equipment to take to the field.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I am happy with the data communication performance of the system.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System’s range resolution of 6m is a hinderance.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Target classification works well with stationary objects.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Classification of targets that are moving through multiple axis at a fixed distance from the system shows promise.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Haven’t been able to show classification of multiple object in single scene yet.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Next Steps: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One more round of field testing.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Write up.</a:t>
            </a:r>
          </a:p>
        </p:txBody>
      </p:sp>
    </p:spTree>
    <p:extLst>
      <p:ext uri="{BB962C8B-B14F-4D97-AF65-F5344CB8AC3E}">
        <p14:creationId xmlns:p14="http://schemas.microsoft.com/office/powerpoint/2010/main" val="20512799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54868-B23D-3336-2D6D-577B227DA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7F93F-5F79-CB0E-B85B-D786D5E7D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40" y="2689715"/>
            <a:ext cx="10739119" cy="1478570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Thank You and questions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458B0-4766-FCC5-67F2-70DA0DD89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3254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7456</TotalTime>
  <Words>1157</Words>
  <Application>Microsoft Macintosh PowerPoint</Application>
  <PresentationFormat>Widescreen</PresentationFormat>
  <Paragraphs>168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Aptos</vt:lpstr>
      <vt:lpstr>Arial</vt:lpstr>
      <vt:lpstr>Tw Cen MT</vt:lpstr>
      <vt:lpstr>Circuit</vt:lpstr>
      <vt:lpstr>Design and Implementation of a joint communication and Radar System Optimized for Target Classification</vt:lpstr>
      <vt:lpstr>The goals of the day</vt:lpstr>
      <vt:lpstr>Chapter 1 </vt:lpstr>
      <vt:lpstr>Chapter 1: What does a “Joint Communication and Radar System” mean? ”Classic” Radar Waveforms</vt:lpstr>
      <vt:lpstr>Chapter 1: What does a “Joint Communication and Radar System” mean? digital data modulation schemes</vt:lpstr>
      <vt:lpstr>Chapter 1: What does a “Joint Communication and Radar System” mean? The ”popular” digital data modulation scheme</vt:lpstr>
      <vt:lpstr>Chapter 2 </vt:lpstr>
      <vt:lpstr>Chapter 2: Why do I want to use a communication signal in my radar? We want to investigate the following</vt:lpstr>
      <vt:lpstr>Chapter 3 </vt:lpstr>
      <vt:lpstr>Chapter 3: What are Channel Estimations? the Traditional Communication Answer</vt:lpstr>
      <vt:lpstr>Chapter 3: What are Channel Estimations?  What does this look like in real life?</vt:lpstr>
      <vt:lpstr>Chapter 3: What are Channel Estimations? How does one get a channel estimation?</vt:lpstr>
      <vt:lpstr>Chapter 4 </vt:lpstr>
      <vt:lpstr>Chapter 4: How am I utilizing Channel Estimations? extracting channel Estimates from target reflections</vt:lpstr>
      <vt:lpstr>Chapter 5 </vt:lpstr>
      <vt:lpstr>Chapter 5: system design Step 1: Design the OFDM waveform layout</vt:lpstr>
      <vt:lpstr>Chapter 5: system design Step 2: implement in code</vt:lpstr>
      <vt:lpstr>Chapter 5: system design Step 3: Transmit and receive waveform</vt:lpstr>
      <vt:lpstr>Chapter 5: system design Step 4: Ingest Raw data</vt:lpstr>
      <vt:lpstr>Chapter 5: system design Step 4: Ingest Raw data</vt:lpstr>
      <vt:lpstr>Chapter 5: system design Step 5: Collect channel estimates and use PCA analysis with SVM to classify</vt:lpstr>
      <vt:lpstr>Chapter 6 </vt:lpstr>
      <vt:lpstr>Chapter 6: Initial Results Testing Procedure</vt:lpstr>
      <vt:lpstr>Chapter 6: Initial Results Test 1: Communication system characterization</vt:lpstr>
      <vt:lpstr>Chapter 6: Initial Results Test 2: Range radar capabilities</vt:lpstr>
      <vt:lpstr>Chapter 6: Initial Results Test 3: Classification abilities (indoor)</vt:lpstr>
      <vt:lpstr>Chapter 6: Initial Results Test 3: Classification abilities (Outdoor)</vt:lpstr>
      <vt:lpstr>Chapter 7 </vt:lpstr>
      <vt:lpstr>Chapter 7: Takeaways and next steps.</vt:lpstr>
      <vt:lpstr>Thank You and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Rory Schram</dc:creator>
  <cp:lastModifiedBy>Rory Schram</cp:lastModifiedBy>
  <cp:revision>26</cp:revision>
  <dcterms:created xsi:type="dcterms:W3CDTF">2025-08-11T13:07:48Z</dcterms:created>
  <dcterms:modified xsi:type="dcterms:W3CDTF">2025-09-08T17:12:26Z</dcterms:modified>
</cp:coreProperties>
</file>