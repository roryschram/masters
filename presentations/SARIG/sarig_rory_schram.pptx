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5"/>
  </p:notesMasterIdLst>
  <p:sldIdLst>
    <p:sldId id="256" r:id="rId2"/>
    <p:sldId id="258" r:id="rId3"/>
    <p:sldId id="296" r:id="rId4"/>
    <p:sldId id="292" r:id="rId5"/>
    <p:sldId id="293" r:id="rId6"/>
    <p:sldId id="294" r:id="rId7"/>
    <p:sldId id="297" r:id="rId8"/>
    <p:sldId id="295" r:id="rId9"/>
    <p:sldId id="298" r:id="rId10"/>
    <p:sldId id="299" r:id="rId11"/>
    <p:sldId id="301" r:id="rId12"/>
    <p:sldId id="303" r:id="rId13"/>
    <p:sldId id="302" r:id="rId14"/>
    <p:sldId id="300" r:id="rId15"/>
    <p:sldId id="304" r:id="rId16"/>
    <p:sldId id="274" r:id="rId17"/>
    <p:sldId id="286" r:id="rId18"/>
    <p:sldId id="281" r:id="rId19"/>
    <p:sldId id="285" r:id="rId20"/>
    <p:sldId id="275" r:id="rId21"/>
    <p:sldId id="280" r:id="rId22"/>
    <p:sldId id="282" r:id="rId23"/>
    <p:sldId id="283" r:id="rId24"/>
    <p:sldId id="284" r:id="rId25"/>
    <p:sldId id="276" r:id="rId26"/>
    <p:sldId id="277" r:id="rId27"/>
    <p:sldId id="278" r:id="rId28"/>
    <p:sldId id="279" r:id="rId29"/>
    <p:sldId id="287" r:id="rId30"/>
    <p:sldId id="288" r:id="rId31"/>
    <p:sldId id="290" r:id="rId32"/>
    <p:sldId id="291" r:id="rId33"/>
    <p:sldId id="289" r:id="rId3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–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17"/>
    <p:restoredTop sz="94621"/>
  </p:normalViewPr>
  <p:slideViewPr>
    <p:cSldViewPr snapToGrid="0">
      <p:cViewPr>
        <p:scale>
          <a:sx n="105" d="100"/>
          <a:sy n="105" d="100"/>
        </p:scale>
        <p:origin x="632" y="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15475A-19DE-C244-8B09-FC56C781097B}" type="datetimeFigureOut">
              <a:rPr lang="en-US" smtClean="0"/>
              <a:t>9/4/25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F127C0-F521-9948-9013-52DD445716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1316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5B1EC579-7593-4549-B507-F6F0CEEF4AFD}" type="datetime1">
              <a:rPr lang="en-ZA" smtClean="0"/>
              <a:t>2025/09/04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3671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2C4BB-465C-6E4C-978A-0C0A956CF691}" type="datetime1">
              <a:rPr lang="en-ZA" smtClean="0"/>
              <a:t>2025/09/04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6064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D4562-BAD8-3F4A-9F37-20B755856047}" type="datetime1">
              <a:rPr lang="en-ZA" smtClean="0"/>
              <a:t>2025/09/04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5137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9250E-0EE9-EA43-9468-E0071303EE7C}" type="datetime1">
              <a:rPr lang="en-ZA" smtClean="0"/>
              <a:t>2025/09/04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0022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FF489-9620-BA4E-8717-E1C285784F57}" type="datetime1">
              <a:rPr lang="en-ZA" smtClean="0"/>
              <a:t>2025/09/04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110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5ADB8-3EC9-844E-BDE2-91BD3889BD77}" type="datetime1">
              <a:rPr lang="en-ZA" smtClean="0"/>
              <a:t>2025/09/04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7305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5FEA7-CBA3-0948-A76E-2C459879B990}" type="datetime1">
              <a:rPr lang="en-ZA" smtClean="0"/>
              <a:t>2025/09/04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2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D4566F-1137-DA4C-9793-D93F52BCA8ED}" type="datetime1">
              <a:rPr lang="en-ZA" smtClean="0"/>
              <a:t>2025/09/04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320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E1FB96-0A17-8749-A843-B45B8292CCFD}" type="datetime1">
              <a:rPr lang="en-ZA" smtClean="0"/>
              <a:t>2025/09/04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3211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F6D22-ADAE-7B43-8F9E-52AD50CD8AE7}" type="datetime1">
              <a:rPr lang="en-ZA" smtClean="0"/>
              <a:t>2025/09/04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2594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9BEA8-C43D-7C44-A69A-98F077409581}" type="datetime1">
              <a:rPr lang="en-ZA" smtClean="0"/>
              <a:t>2025/09/04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7095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10A68F-D802-8A4E-8318-CCF5E4C7BC32}" type="datetime1">
              <a:rPr lang="en-ZA" smtClean="0"/>
              <a:t>2025/09/04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838924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524993-7A65-D74F-A64D-6C67C9178D34}" type="datetime1">
              <a:rPr lang="en-ZA" smtClean="0"/>
              <a:t>2025/09/04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2645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696C8-D003-BD43-A4CD-8BA9FBCE70B5}" type="datetime1">
              <a:rPr lang="en-ZA" smtClean="0"/>
              <a:t>2025/09/04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5425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C33E1-B106-7A45-9269-60D04875F2BC}" type="datetime1">
              <a:rPr lang="en-ZA" smtClean="0"/>
              <a:t>2025/09/04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3832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72049-046C-9B40-AA51-2DEFB9DC7419}" type="datetime1">
              <a:rPr lang="en-ZA" smtClean="0"/>
              <a:t>2025/09/04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249234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21FEC-2792-1F46-9402-94180001DAD1}" type="datetime1">
              <a:rPr lang="en-ZA" smtClean="0"/>
              <a:t>2025/09/04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6136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60388B-757F-D94A-A850-F6E64ADB1682}" type="datetime1">
              <a:rPr lang="en-ZA" smtClean="0"/>
              <a:t>2025/09/04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206013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B0831-91FD-1F51-E519-726105DA93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9785145" cy="2387600"/>
          </a:xfrm>
        </p:spPr>
        <p:txBody>
          <a:bodyPr>
            <a:noAutofit/>
          </a:bodyPr>
          <a:lstStyle/>
          <a:p>
            <a:r>
              <a:rPr lang="en-US" sz="4000" dirty="0"/>
              <a:t>Design and Implementation of a joint communication and Radar System Optimized for Target Classification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092320-6CCC-1B89-B82A-8880056382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</a:t>
            </a:r>
            <a:r>
              <a:rPr lang="en-US" dirty="0" err="1"/>
              <a:t>rory</a:t>
            </a:r>
            <a:r>
              <a:rPr lang="en-US" dirty="0"/>
              <a:t> </a:t>
            </a:r>
            <a:r>
              <a:rPr lang="en-US" dirty="0" err="1"/>
              <a:t>schram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A6F73C-6F99-5456-7A2C-0C44BFA40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8725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00BBC-8DDB-6644-79B4-D62D8D814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goals of the 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B076ED-C61F-35BA-8B38-4120E5F323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Chapter 1: What does a “Joint Communication and Radar System” mean?</a:t>
            </a:r>
          </a:p>
          <a:p>
            <a:pPr marL="0" indent="0">
              <a:buNone/>
            </a:pPr>
            <a:r>
              <a:rPr lang="en-US" dirty="0"/>
              <a:t>Chapter 2: Why do I want to use a communication signal in my radar?</a:t>
            </a:r>
          </a:p>
          <a:p>
            <a:pPr marL="0" indent="0">
              <a:buNone/>
            </a:pPr>
            <a:r>
              <a:rPr lang="en-US" dirty="0"/>
              <a:t>Chapter 3: What are Channel Estimations?</a:t>
            </a:r>
          </a:p>
          <a:p>
            <a:pPr marL="0" indent="0">
              <a:buNone/>
            </a:pPr>
            <a:r>
              <a:rPr lang="en-US" dirty="0"/>
              <a:t>Chapter 4: How am I utilizing Channel Estimations?</a:t>
            </a:r>
          </a:p>
          <a:p>
            <a:pPr marL="0" indent="0">
              <a:buNone/>
            </a:pPr>
            <a:r>
              <a:rPr lang="en-US" dirty="0"/>
              <a:t>Chapter 5: Design of the system.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E7F437-0DD7-A342-6121-FF49D6B7B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4054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D918D-36D7-1D4C-EBA9-3833CC49C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4337F-A11C-8DCC-A0DE-9EB7E6222E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26579"/>
            <a:ext cx="9905998" cy="1478570"/>
          </a:xfrm>
        </p:spPr>
        <p:txBody>
          <a:bodyPr>
            <a:normAutofit fontScale="90000"/>
          </a:bodyPr>
          <a:lstStyle/>
          <a:p>
            <a:pPr algn="ctr"/>
            <a:r>
              <a:rPr lang="en-US" sz="5400" dirty="0"/>
              <a:t>Chapter 1</a:t>
            </a:r>
            <a:br>
              <a:rPr lang="en-US" sz="5400" dirty="0"/>
            </a:br>
            <a:endParaRPr lang="en-US" sz="5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4278DA-7C26-5E7C-F598-3A759D71D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3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E668B7-BE43-3C8B-2F30-AB6B7A0ACB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965864"/>
            <a:ext cx="9905999" cy="354171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200" dirty="0"/>
              <a:t>What does a “Joint Communication and Radar System” mean?</a:t>
            </a:r>
          </a:p>
        </p:txBody>
      </p:sp>
    </p:spTree>
    <p:extLst>
      <p:ext uri="{BB962C8B-B14F-4D97-AF65-F5344CB8AC3E}">
        <p14:creationId xmlns:p14="http://schemas.microsoft.com/office/powerpoint/2010/main" val="14612482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63FA4-8761-375F-BA0C-DAC5B6A24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05616C-8E48-4A20-ADAC-1F0D3D7BD6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 dirty="0"/>
              <a:t>Chapter 1: What does a “Joint Communication and Radar System” mean?</a:t>
            </a:r>
            <a:br>
              <a:rPr lang="en-US" sz="1800" dirty="0"/>
            </a:br>
            <a:r>
              <a:rPr lang="en-US" dirty="0"/>
              <a:t>”Classic” Radar Waveforms</a:t>
            </a:r>
            <a:endParaRPr lang="en-US" sz="1800" dirty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C84E7A87-60A0-AF61-F2B9-CE5D4ED22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4</a:t>
            </a:fld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70682A6-268A-D698-9C76-41D718153BC0}"/>
              </a:ext>
            </a:extLst>
          </p:cNvPr>
          <p:cNvGrpSpPr/>
          <p:nvPr/>
        </p:nvGrpSpPr>
        <p:grpSpPr>
          <a:xfrm>
            <a:off x="3824546" y="1994119"/>
            <a:ext cx="3929351" cy="4071717"/>
            <a:chOff x="1141413" y="2097088"/>
            <a:chExt cx="3929351" cy="4071717"/>
          </a:xfrm>
        </p:grpSpPr>
        <p:pic>
          <p:nvPicPr>
            <p:cNvPr id="7" name="Picture 6" descr="A diagram of a radar type&#10;&#10;AI-generated content may be incorrect.">
              <a:extLst>
                <a:ext uri="{FF2B5EF4-FFF2-40B4-BE49-F238E27FC236}">
                  <a16:creationId xmlns:a16="http://schemas.microsoft.com/office/drawing/2014/main" id="{3F4BEA30-606D-BA07-A442-55854F7A6C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41413" y="2097088"/>
              <a:ext cx="3929351" cy="3702385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F1A4254-7A8C-995E-0EE5-71B1F43ED392}"/>
                </a:ext>
              </a:extLst>
            </p:cNvPr>
            <p:cNvSpPr txBox="1"/>
            <p:nvPr/>
          </p:nvSpPr>
          <p:spPr>
            <a:xfrm>
              <a:off x="1580799" y="5799473"/>
              <a:ext cx="305057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Radar Waveforms. Source [1]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1F06BB40-3243-36C7-40CC-D60A92B8AFCC}"/>
              </a:ext>
            </a:extLst>
          </p:cNvPr>
          <p:cNvSpPr txBox="1"/>
          <p:nvPr/>
        </p:nvSpPr>
        <p:spPr>
          <a:xfrm>
            <a:off x="985653" y="6448302"/>
            <a:ext cx="96071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[1] </a:t>
            </a:r>
            <a:r>
              <a:rPr lang="en-US" sz="1400" dirty="0" err="1"/>
              <a:t>Malikeh</a:t>
            </a:r>
            <a:r>
              <a:rPr lang="en-US" sz="1400" dirty="0"/>
              <a:t> P. Ebrahim, Neil Tom, Duygu Nazan </a:t>
            </a:r>
            <a:r>
              <a:rPr lang="en-US" sz="1400" dirty="0" err="1"/>
              <a:t>Gençoğlan</a:t>
            </a:r>
            <a:r>
              <a:rPr lang="en-US" sz="1400" dirty="0"/>
              <a:t>, </a:t>
            </a:r>
            <a:r>
              <a:rPr lang="en-US" sz="1400" dirty="0" err="1"/>
              <a:t>Şule</a:t>
            </a:r>
            <a:r>
              <a:rPr lang="en-US" sz="1400" dirty="0"/>
              <a:t> Çolak, Mehmet R. </a:t>
            </a:r>
            <a:r>
              <a:rPr lang="en-US" sz="1400" dirty="0" err="1"/>
              <a:t>Yuce</a:t>
            </a:r>
            <a:r>
              <a:rPr lang="en-US" sz="1400" dirty="0"/>
              <a:t>, Radar and Non-Contact Sensing</a:t>
            </a:r>
          </a:p>
        </p:txBody>
      </p:sp>
    </p:spTree>
    <p:extLst>
      <p:ext uri="{BB962C8B-B14F-4D97-AF65-F5344CB8AC3E}">
        <p14:creationId xmlns:p14="http://schemas.microsoft.com/office/powerpoint/2010/main" val="295503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1FA0A-2EB4-557E-7A3D-51B92383E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FD4FB-81E3-A9FF-E1CF-F1A2D10B8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81413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1: What does a “Joint Communication and Radar System” mean?</a:t>
            </a:r>
            <a:br>
              <a:rPr lang="en-US" sz="1800" dirty="0"/>
            </a:br>
            <a:r>
              <a:rPr lang="en-US" dirty="0"/>
              <a:t>digital data modulation schemes</a:t>
            </a:r>
            <a:endParaRPr lang="en-US" sz="1800" dirty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B73C318A-C702-8C96-52EA-13F013C3A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5</a:t>
            </a:fld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8F8893-4B99-A063-4D38-53210B9A15C3}"/>
              </a:ext>
            </a:extLst>
          </p:cNvPr>
          <p:cNvSpPr txBox="1"/>
          <p:nvPr/>
        </p:nvSpPr>
        <p:spPr>
          <a:xfrm>
            <a:off x="985653" y="6448302"/>
            <a:ext cx="96071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[2] Lou Frenzel, Understanding Modern Digital Modulation Techniques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0A2E09E-11DA-92AC-CF8A-1F2AE13927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5890424"/>
              </p:ext>
            </p:extLst>
          </p:nvPr>
        </p:nvGraphicFramePr>
        <p:xfrm>
          <a:off x="1725222" y="2097088"/>
          <a:ext cx="8128000" cy="296672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27341628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5118681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Modulation 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Encodes Data Using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8760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Amplitude Shift Keying (ASK)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Amplitude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99020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Frequency Shift Keying (FSK)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29247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Binary Phase Shift Keying (BPSK)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Phase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03931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Quadrature Phase Shift Keying (QPSK)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Phase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04472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Multiple Phase Shift Keying (M-PSK)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Phase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5692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Quadrature Amplitude Modulation (QAM)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Amplitude and Phase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6325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Amplitude Phase Shift Keying (APSK)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Amplitude and Phase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025910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041907D-CE83-5ED2-F80B-B56F55FB12F5}"/>
              </a:ext>
            </a:extLst>
          </p:cNvPr>
          <p:cNvSpPr txBox="1"/>
          <p:nvPr/>
        </p:nvSpPr>
        <p:spPr>
          <a:xfrm>
            <a:off x="3567731" y="5079045"/>
            <a:ext cx="44429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Digital Modulation Schemes. Adapted from [2]</a:t>
            </a:r>
          </a:p>
        </p:txBody>
      </p:sp>
    </p:spTree>
    <p:extLst>
      <p:ext uri="{BB962C8B-B14F-4D97-AF65-F5344CB8AC3E}">
        <p14:creationId xmlns:p14="http://schemas.microsoft.com/office/powerpoint/2010/main" val="14604143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29804-6783-CCC1-565D-93160C574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E7C630-C1EA-DCFA-1B61-341528DDA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81413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1: What does a “Joint Communication and Radar System” mean?</a:t>
            </a:r>
            <a:br>
              <a:rPr lang="en-US" sz="1800" dirty="0"/>
            </a:br>
            <a:r>
              <a:rPr lang="en-US" dirty="0"/>
              <a:t>The ”popular” digital data modulation scheme</a:t>
            </a:r>
            <a:endParaRPr lang="en-US" sz="1800" dirty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ED0977A5-E665-2B74-60D7-832CC24FD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6</a:t>
            </a:fld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75FA58-6B48-F9EC-375A-879D1023FA94}"/>
              </a:ext>
            </a:extLst>
          </p:cNvPr>
          <p:cNvSpPr txBox="1"/>
          <p:nvPr/>
        </p:nvSpPr>
        <p:spPr>
          <a:xfrm>
            <a:off x="985653" y="6448302"/>
            <a:ext cx="96071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[3] Bob Witte, The Basics of 5G’s Modulation, OFDM</a:t>
            </a:r>
          </a:p>
        </p:txBody>
      </p:sp>
      <p:pic>
        <p:nvPicPr>
          <p:cNvPr id="6" name="Picture 5" descr="A diagram of a signal&#10;&#10;AI-generated content may be incorrect.">
            <a:extLst>
              <a:ext uri="{FF2B5EF4-FFF2-40B4-BE49-F238E27FC236}">
                <a16:creationId xmlns:a16="http://schemas.microsoft.com/office/drawing/2014/main" id="{5A0769F2-EC69-C88E-CC22-10E860EAF9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3022" y="1928586"/>
            <a:ext cx="7772400" cy="36742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0408696-206B-CDB2-18EC-A79216F9A11C}"/>
              </a:ext>
            </a:extLst>
          </p:cNvPr>
          <p:cNvSpPr txBox="1"/>
          <p:nvPr/>
        </p:nvSpPr>
        <p:spPr>
          <a:xfrm>
            <a:off x="4877389" y="5618048"/>
            <a:ext cx="1823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OFDM. Source [3]</a:t>
            </a:r>
          </a:p>
        </p:txBody>
      </p:sp>
    </p:spTree>
    <p:extLst>
      <p:ext uri="{BB962C8B-B14F-4D97-AF65-F5344CB8AC3E}">
        <p14:creationId xmlns:p14="http://schemas.microsoft.com/office/powerpoint/2010/main" val="10841777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2DD21-BFE9-2A77-D51A-27D6C6DB1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E2CB5-7EBA-4F4D-4F77-69F0811E3C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26579"/>
            <a:ext cx="9905998" cy="1478570"/>
          </a:xfrm>
        </p:spPr>
        <p:txBody>
          <a:bodyPr>
            <a:normAutofit fontScale="90000"/>
          </a:bodyPr>
          <a:lstStyle/>
          <a:p>
            <a:pPr algn="ctr"/>
            <a:r>
              <a:rPr lang="en-US" sz="5400" dirty="0"/>
              <a:t>Chapter 2</a:t>
            </a:r>
            <a:br>
              <a:rPr lang="en-US" sz="5400" dirty="0"/>
            </a:br>
            <a:endParaRPr lang="en-US" sz="5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A397A4-3AF6-E721-5CD2-40B045301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7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0B7C25-FE6F-F92C-C436-C490A68008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965864"/>
            <a:ext cx="9905999" cy="354171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200" dirty="0"/>
              <a:t>Why do I want to use a communication signal in my radar?</a:t>
            </a:r>
          </a:p>
        </p:txBody>
      </p:sp>
    </p:spTree>
    <p:extLst>
      <p:ext uri="{BB962C8B-B14F-4D97-AF65-F5344CB8AC3E}">
        <p14:creationId xmlns:p14="http://schemas.microsoft.com/office/powerpoint/2010/main" val="19680876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7FCC2-FB09-88DC-58C1-6C1364440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C591E-435E-E70E-D9C6-F98822C5B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81413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2: Why do I want to use a communication signal in my radar?</a:t>
            </a:r>
            <a:br>
              <a:rPr lang="en-US" sz="1400" dirty="0"/>
            </a:br>
            <a:r>
              <a:rPr lang="en-US" dirty="0"/>
              <a:t>We want to investigate the following</a:t>
            </a:r>
            <a:endParaRPr lang="en-US" sz="1800" dirty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2BB9B8A1-859F-C204-D65C-92576D64F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8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A657DA-BE72-FD7A-528F-B8DDF661AEBE}"/>
              </a:ext>
            </a:extLst>
          </p:cNvPr>
          <p:cNvSpPr txBox="1"/>
          <p:nvPr/>
        </p:nvSpPr>
        <p:spPr>
          <a:xfrm>
            <a:off x="1141412" y="1873332"/>
            <a:ext cx="886948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 primary goal of my masters is to create a radar system that can classify targets based on returned waveforms and nothing else. This can prove difficult with traditional radar waveforms…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7DE169-8522-CCDA-5B2E-C17B4741F67F}"/>
              </a:ext>
            </a:extLst>
          </p:cNvPr>
          <p:cNvSpPr txBox="1"/>
          <p:nvPr/>
        </p:nvSpPr>
        <p:spPr>
          <a:xfrm>
            <a:off x="1141409" y="2948786"/>
            <a:ext cx="886948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Therefore, we need to extract more information about the target to achieve the goal of classification.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7A9177-34F8-F7C2-2573-A130D6AB4978}"/>
              </a:ext>
            </a:extLst>
          </p:cNvPr>
          <p:cNvSpPr txBox="1"/>
          <p:nvPr/>
        </p:nvSpPr>
        <p:spPr>
          <a:xfrm>
            <a:off x="1141408" y="4822697"/>
            <a:ext cx="886948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If this system can operate as a normal radar, detecting range of targets, that is a bonus.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6394B5-1BFE-A642-EC3F-0C62A4E15EF5}"/>
              </a:ext>
            </a:extLst>
          </p:cNvPr>
          <p:cNvSpPr txBox="1"/>
          <p:nvPr/>
        </p:nvSpPr>
        <p:spPr>
          <a:xfrm>
            <a:off x="1141409" y="3747242"/>
            <a:ext cx="886948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 communication signal with the correct modulation and demodulation techniques has the potential to help extract more information about our targets in the form of CHANNEL ESTIMATIONS.</a:t>
            </a:r>
          </a:p>
        </p:txBody>
      </p:sp>
    </p:spTree>
    <p:extLst>
      <p:ext uri="{BB962C8B-B14F-4D97-AF65-F5344CB8AC3E}">
        <p14:creationId xmlns:p14="http://schemas.microsoft.com/office/powerpoint/2010/main" val="9415601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9C773-450A-9E14-8F90-8DE24FCFF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41ADF-3762-0274-9912-0CA787224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26579"/>
            <a:ext cx="9905998" cy="1478570"/>
          </a:xfrm>
        </p:spPr>
        <p:txBody>
          <a:bodyPr>
            <a:normAutofit fontScale="90000"/>
          </a:bodyPr>
          <a:lstStyle/>
          <a:p>
            <a:pPr algn="ctr"/>
            <a:r>
              <a:rPr lang="en-US" sz="5400" dirty="0"/>
              <a:t>Chapter 3</a:t>
            </a:r>
            <a:br>
              <a:rPr lang="en-US" sz="5400" dirty="0"/>
            </a:br>
            <a:endParaRPr lang="en-US" sz="5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7545DE-BDD4-2297-D6BA-0621F4AC0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9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19D946-7CE0-3731-3E04-19AA0497C0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965864"/>
            <a:ext cx="9905999" cy="354171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200" dirty="0"/>
              <a:t>What are Channel Estimations?</a:t>
            </a:r>
          </a:p>
        </p:txBody>
      </p:sp>
    </p:spTree>
    <p:extLst>
      <p:ext uri="{BB962C8B-B14F-4D97-AF65-F5344CB8AC3E}">
        <p14:creationId xmlns:p14="http://schemas.microsoft.com/office/powerpoint/2010/main" val="11272559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B1035-F903-3CF0-5A40-27CA0AAE4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97CE01-26D6-163E-99C4-53EE8D0297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81413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3: What are Channel Estimations?</a:t>
            </a:r>
            <a:br>
              <a:rPr lang="en-US" sz="1400" dirty="0"/>
            </a:br>
            <a:r>
              <a:rPr lang="en-US" dirty="0"/>
              <a:t>the Traditional Communication Answer</a:t>
            </a:r>
            <a:endParaRPr lang="en-US" sz="1800" dirty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764CCC24-AF9E-2421-25E5-228A0135D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10</a:t>
            </a:fld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8151585-760D-6BB7-4278-68B660EB27BB}"/>
              </a:ext>
            </a:extLst>
          </p:cNvPr>
          <p:cNvSpPr txBox="1"/>
          <p:nvPr/>
        </p:nvSpPr>
        <p:spPr>
          <a:xfrm>
            <a:off x="985652" y="6448302"/>
            <a:ext cx="102721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[4] Dhinesh Kumar R, Rammohan A, Revolutionizing Intelligent Transportation Systems with Cellular Vehicle-to-Everything (C-V2X) technology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09BCDD-78B7-E2FD-723F-A2E8A662AFE1}"/>
              </a:ext>
            </a:extLst>
          </p:cNvPr>
          <p:cNvSpPr txBox="1"/>
          <p:nvPr/>
        </p:nvSpPr>
        <p:spPr>
          <a:xfrm>
            <a:off x="1141411" y="1835326"/>
            <a:ext cx="91349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“Channel estimation refers to the process of estimating the characteristics of the wireless channel between the transmitter and receiver, such as signal strength, delay, and Doppler shift.” [4]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917AE6-7A4B-815C-B91A-401EC0CAFB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5620"/>
          <a:stretch>
            <a:fillRect/>
          </a:stretch>
        </p:blipFill>
        <p:spPr>
          <a:xfrm>
            <a:off x="2089761" y="2598552"/>
            <a:ext cx="7238208" cy="316782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20FD734-1BF2-5AE0-2FEC-7E0704158615}"/>
              </a:ext>
            </a:extLst>
          </p:cNvPr>
          <p:cNvSpPr txBox="1"/>
          <p:nvPr/>
        </p:nvSpPr>
        <p:spPr>
          <a:xfrm>
            <a:off x="4069770" y="5738008"/>
            <a:ext cx="32781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communication channel in a city.</a:t>
            </a:r>
          </a:p>
        </p:txBody>
      </p:sp>
    </p:spTree>
    <p:extLst>
      <p:ext uri="{BB962C8B-B14F-4D97-AF65-F5344CB8AC3E}">
        <p14:creationId xmlns:p14="http://schemas.microsoft.com/office/powerpoint/2010/main" val="32266903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EC6FB-A7CA-7FF0-33E3-5C21DFB46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CF448E-E84F-CA9F-B782-DBE17CA54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81413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3: What are Channel Estimations?</a:t>
            </a:r>
            <a:br>
              <a:rPr lang="en-US" sz="1400" dirty="0"/>
            </a:br>
            <a:r>
              <a:rPr lang="en-US" dirty="0"/>
              <a:t> What does this look like in real life?</a:t>
            </a:r>
            <a:endParaRPr lang="en-US" sz="1800" dirty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25C04F23-81E9-1FBA-20CE-6284B8962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11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A330DF-6B75-0209-5842-7BE78F74737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853" b="19883"/>
          <a:stretch>
            <a:fillRect/>
          </a:stretch>
        </p:blipFill>
        <p:spPr>
          <a:xfrm>
            <a:off x="2019794" y="1739342"/>
            <a:ext cx="7772400" cy="167442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D733B0A-F3C5-E002-3FD4-91F5C063E3FC}"/>
              </a:ext>
            </a:extLst>
          </p:cNvPr>
          <p:cNvSpPr txBox="1"/>
          <p:nvPr/>
        </p:nvSpPr>
        <p:spPr>
          <a:xfrm>
            <a:off x="4188277" y="3413763"/>
            <a:ext cx="3815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Effects of a channel on a perfect signal.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DA90178-F490-7742-458C-A64C7C0DC4E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519" b="18290"/>
          <a:stretch>
            <a:fillRect/>
          </a:stretch>
        </p:blipFill>
        <p:spPr>
          <a:xfrm>
            <a:off x="2019794" y="4153668"/>
            <a:ext cx="7772400" cy="157941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C6E8C10-949A-679A-B28D-0109985699E2}"/>
              </a:ext>
            </a:extLst>
          </p:cNvPr>
          <p:cNvSpPr txBox="1"/>
          <p:nvPr/>
        </p:nvSpPr>
        <p:spPr>
          <a:xfrm>
            <a:off x="3837832" y="5733086"/>
            <a:ext cx="4516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Channel equalization using a channel estimate.</a:t>
            </a:r>
          </a:p>
        </p:txBody>
      </p:sp>
    </p:spTree>
    <p:extLst>
      <p:ext uri="{BB962C8B-B14F-4D97-AF65-F5344CB8AC3E}">
        <p14:creationId xmlns:p14="http://schemas.microsoft.com/office/powerpoint/2010/main" val="5202158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D6780C-A900-E6D4-A13E-3C89D5940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43D79-1EB8-660B-3610-5104501927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81413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3: What are Channel Estimations?</a:t>
            </a:r>
            <a:br>
              <a:rPr lang="en-US" sz="1400" dirty="0"/>
            </a:br>
            <a:r>
              <a:rPr lang="en-US" dirty="0"/>
              <a:t>How does one get a channel estimation?</a:t>
            </a:r>
            <a:endParaRPr lang="en-US" sz="1800" dirty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CD71AE21-8F7B-2577-C4BE-7B6AB0B7F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12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E64E57-B09A-4652-F88B-EF9CCB046E5D}"/>
              </a:ext>
            </a:extLst>
          </p:cNvPr>
          <p:cNvSpPr txBox="1"/>
          <p:nvPr/>
        </p:nvSpPr>
        <p:spPr>
          <a:xfrm>
            <a:off x="1141412" y="6482310"/>
            <a:ext cx="96071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[5] Wang, Shuchen &amp; Gao, </a:t>
            </a:r>
            <a:r>
              <a:rPr lang="en-US" sz="1400" dirty="0" err="1"/>
              <a:t>Suixiang</a:t>
            </a:r>
            <a:r>
              <a:rPr lang="en-US" sz="1400" dirty="0"/>
              <a:t> &amp; </a:t>
            </a:r>
            <a:r>
              <a:rPr lang="en-US" sz="1400" dirty="0" err="1"/>
              <a:t>Wenguo</a:t>
            </a:r>
            <a:r>
              <a:rPr lang="en-US" sz="1400" dirty="0"/>
              <a:t>, Yang, Pilot pattern design scheme with branch and bound in PSA-OFDM system</a:t>
            </a:r>
          </a:p>
        </p:txBody>
      </p:sp>
      <p:pic>
        <p:nvPicPr>
          <p:cNvPr id="4" name="Picture 3" descr="A diagram of a signal&#10;&#10;AI-generated content may be incorrect.">
            <a:extLst>
              <a:ext uri="{FF2B5EF4-FFF2-40B4-BE49-F238E27FC236}">
                <a16:creationId xmlns:a16="http://schemas.microsoft.com/office/drawing/2014/main" id="{AD73803B-7BF4-F3C2-C87D-F5C68C4A05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982" y="2099501"/>
            <a:ext cx="5302450" cy="250661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F81FE80-9875-E40C-173A-EBC5E4D2DC96}"/>
              </a:ext>
            </a:extLst>
          </p:cNvPr>
          <p:cNvSpPr txBox="1"/>
          <p:nvPr/>
        </p:nvSpPr>
        <p:spPr>
          <a:xfrm>
            <a:off x="2179374" y="4606113"/>
            <a:ext cx="1823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OFDM. Source [3]</a:t>
            </a:r>
          </a:p>
        </p:txBody>
      </p:sp>
      <p:pic>
        <p:nvPicPr>
          <p:cNvPr id="9" name="Picture 8" descr="A graph with black and white lines&#10;&#10;AI-generated content may be incorrect.">
            <a:extLst>
              <a:ext uri="{FF2B5EF4-FFF2-40B4-BE49-F238E27FC236}">
                <a16:creationId xmlns:a16="http://schemas.microsoft.com/office/drawing/2014/main" id="{D93CFA24-0749-F456-976A-1F93B8D2B8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5182" y="2603401"/>
            <a:ext cx="5614075" cy="165119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5CE0D50-CF20-9645-0B4D-A9572CB2233B}"/>
              </a:ext>
            </a:extLst>
          </p:cNvPr>
          <p:cNvSpPr txBox="1"/>
          <p:nvPr/>
        </p:nvSpPr>
        <p:spPr>
          <a:xfrm>
            <a:off x="7163707" y="4239944"/>
            <a:ext cx="3197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Pilot Symbol Patterns. Source [5]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451D36-7882-4965-3D5A-DC78F07B8CF0}"/>
              </a:ext>
            </a:extLst>
          </p:cNvPr>
          <p:cNvSpPr txBox="1"/>
          <p:nvPr/>
        </p:nvSpPr>
        <p:spPr>
          <a:xfrm>
            <a:off x="1141412" y="6234788"/>
            <a:ext cx="96071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[3] Bob Witte, The Basics of 5G’s Modulation, OFDM</a:t>
            </a:r>
          </a:p>
        </p:txBody>
      </p:sp>
    </p:spTree>
    <p:extLst>
      <p:ext uri="{BB962C8B-B14F-4D97-AF65-F5344CB8AC3E}">
        <p14:creationId xmlns:p14="http://schemas.microsoft.com/office/powerpoint/2010/main" val="26531527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A489C-4FDE-9EB0-0467-A0F3151F5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8842CA-1E7E-09D5-7A28-7054DC455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26579"/>
            <a:ext cx="9905998" cy="1478570"/>
          </a:xfrm>
        </p:spPr>
        <p:txBody>
          <a:bodyPr>
            <a:normAutofit fontScale="90000"/>
          </a:bodyPr>
          <a:lstStyle/>
          <a:p>
            <a:pPr algn="ctr"/>
            <a:r>
              <a:rPr lang="en-US" sz="5400" dirty="0"/>
              <a:t>Chapter 4</a:t>
            </a:r>
            <a:br>
              <a:rPr lang="en-US" sz="5400" dirty="0"/>
            </a:br>
            <a:endParaRPr lang="en-US" sz="5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3A9F0D-680C-CD17-F8D4-0829228CD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13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1FEA31-2F16-9265-97E7-A41F0CB377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965864"/>
            <a:ext cx="9905999" cy="354171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200" dirty="0"/>
              <a:t>How am I utilizing Channel Estimations?</a:t>
            </a:r>
          </a:p>
        </p:txBody>
      </p:sp>
    </p:spTree>
    <p:extLst>
      <p:ext uri="{BB962C8B-B14F-4D97-AF65-F5344CB8AC3E}">
        <p14:creationId xmlns:p14="http://schemas.microsoft.com/office/powerpoint/2010/main" val="22376883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414B64-9102-4AEF-E9CA-15D524641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9BF7C-BB52-E861-3F6A-D104A801F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81413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4: How am I utilizing Channel Estimations?</a:t>
            </a:r>
            <a:br>
              <a:rPr lang="en-US" sz="1400" dirty="0"/>
            </a:br>
            <a:r>
              <a:rPr lang="en-US" dirty="0"/>
              <a:t>extracting channel Estimates from target reflections</a:t>
            </a:r>
            <a:endParaRPr lang="en-US" sz="1800" dirty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853D1BFE-5C9E-8D1C-9BB3-5670FDC7C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14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4DB989-8471-4961-46C8-88E087AF6D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531" b="8206"/>
          <a:stretch>
            <a:fillRect/>
          </a:stretch>
        </p:blipFill>
        <p:spPr>
          <a:xfrm>
            <a:off x="2438895" y="2097088"/>
            <a:ext cx="7314210" cy="411249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8991052-6C93-299B-658C-BEEB9A82AF17}"/>
              </a:ext>
            </a:extLst>
          </p:cNvPr>
          <p:cNvSpPr txBox="1"/>
          <p:nvPr/>
        </p:nvSpPr>
        <p:spPr>
          <a:xfrm>
            <a:off x="5450774" y="3897420"/>
            <a:ext cx="819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H(f)</a:t>
            </a:r>
          </a:p>
        </p:txBody>
      </p:sp>
    </p:spTree>
    <p:extLst>
      <p:ext uri="{BB962C8B-B14F-4D97-AF65-F5344CB8AC3E}">
        <p14:creationId xmlns:p14="http://schemas.microsoft.com/office/powerpoint/2010/main" val="21187404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EAC50-952D-C1C4-93C1-5235EEDB0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EB3AF0-FE06-B1BF-C154-A74CC4F19A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26579"/>
            <a:ext cx="9905998" cy="1478570"/>
          </a:xfrm>
        </p:spPr>
        <p:txBody>
          <a:bodyPr>
            <a:normAutofit fontScale="90000"/>
          </a:bodyPr>
          <a:lstStyle/>
          <a:p>
            <a:pPr algn="ctr"/>
            <a:r>
              <a:rPr lang="en-US" sz="5400" dirty="0"/>
              <a:t>Chapter 5</a:t>
            </a:r>
            <a:br>
              <a:rPr lang="en-US" sz="5400" dirty="0"/>
            </a:br>
            <a:endParaRPr lang="en-US" sz="5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31BAAA-394A-4956-0984-5818604E9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15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FFDF3C-E4DC-146B-DC84-8BBD6B0EB3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965864"/>
            <a:ext cx="9905999" cy="354171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200" dirty="0"/>
              <a:t>Design of the system.</a:t>
            </a:r>
          </a:p>
        </p:txBody>
      </p:sp>
    </p:spTree>
    <p:extLst>
      <p:ext uri="{BB962C8B-B14F-4D97-AF65-F5344CB8AC3E}">
        <p14:creationId xmlns:p14="http://schemas.microsoft.com/office/powerpoint/2010/main" val="41519299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EDC2B-79EF-4D4C-AD48-7BA77AB1F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D72B1-E26E-ED13-FB01-C60989E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 dirty="0"/>
              <a:t>Chapter 1: What the heck am I trying to do</a:t>
            </a:r>
            <a:br>
              <a:rPr lang="en-US" sz="1800" dirty="0"/>
            </a:br>
            <a:r>
              <a:rPr lang="en-US" dirty="0"/>
              <a:t>Classification via channel estimation</a:t>
            </a:r>
            <a:endParaRPr lang="en-US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12A976E-EA81-AECE-134C-E5D9D0378D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1913140"/>
            <a:ext cx="9905998" cy="4326342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567D92-7398-FEA8-EDFB-57A62540C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5282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4BB06-92E4-B117-0A48-7F6D81C71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98202-E661-0AD3-BAE4-466D426BC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time we spoke I had done the following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E83141-0F64-242F-D3CA-D6C099BDE654}"/>
              </a:ext>
            </a:extLst>
          </p:cNvPr>
          <p:cNvSpPr txBox="1"/>
          <p:nvPr/>
        </p:nvSpPr>
        <p:spPr>
          <a:xfrm>
            <a:off x="860612" y="2097088"/>
            <a:ext cx="997771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400" dirty="0"/>
              <a:t>Created a single pulse RADAR, very bare bones.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/>
              <a:t>Embedded some data with pilots into the RADAR signal to try and get a channel estimation of a scene.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5C2D44-9F15-8E3C-B9F9-40D50C508854}"/>
              </a:ext>
            </a:extLst>
          </p:cNvPr>
          <p:cNvSpPr txBox="1"/>
          <p:nvPr/>
        </p:nvSpPr>
        <p:spPr>
          <a:xfrm>
            <a:off x="2747684" y="4128029"/>
            <a:ext cx="355898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 also decided that I needed a rig for all my equipment, which could potentially look like this.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AEDA044-35B0-3889-F8B3-D6503DFEB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12" y="3575658"/>
            <a:ext cx="3776666" cy="2473215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8ED086-788C-7D7B-3D4A-A45C92676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1467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85231-A1B2-0F44-B1E0-93CF6ACEE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194E8-2A37-12F7-F97A-5790D5A4B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 dirty="0"/>
              <a:t>Chapter 2: What the heck have I done since last time?</a:t>
            </a:r>
            <a:br>
              <a:rPr lang="en-US" sz="1800" dirty="0"/>
            </a:br>
            <a:r>
              <a:rPr lang="en-US" dirty="0"/>
              <a:t>Re-design of signal creation toolchain</a:t>
            </a:r>
          </a:p>
        </p:txBody>
      </p:sp>
      <p:pic>
        <p:nvPicPr>
          <p:cNvPr id="6" name="Picture 5" descr="A group of graphs and diagrams&#10;&#10;AI-generated content may be incorrect.">
            <a:extLst>
              <a:ext uri="{FF2B5EF4-FFF2-40B4-BE49-F238E27FC236}">
                <a16:creationId xmlns:a16="http://schemas.microsoft.com/office/drawing/2014/main" id="{BE4D073E-C105-55ED-58F8-5C4C9C3CBC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1764029"/>
            <a:ext cx="9905998" cy="4920835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02E8FD-2BE4-0EC9-A310-87D9FAEB2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3373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95256-7875-5781-F1CF-36F2ED0D8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5F868-CE47-4417-D4BD-6A7B98E1F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39119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2: What the heck have I done since last time?</a:t>
            </a:r>
            <a:br>
              <a:rPr lang="en-US" sz="1800" dirty="0"/>
            </a:br>
            <a:r>
              <a:rPr lang="en-US" dirty="0"/>
              <a:t>Re-design of signal creation toolchain</a:t>
            </a:r>
          </a:p>
        </p:txBody>
      </p:sp>
      <p:pic>
        <p:nvPicPr>
          <p:cNvPr id="5" name="Picture 4" descr="A close-up of a note&#10;&#10;AI-generated content may be incorrect.">
            <a:extLst>
              <a:ext uri="{FF2B5EF4-FFF2-40B4-BE49-F238E27FC236}">
                <a16:creationId xmlns:a16="http://schemas.microsoft.com/office/drawing/2014/main" id="{3C0E02D4-F508-8505-D279-36C3C5058A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779" y="2367559"/>
            <a:ext cx="11402442" cy="3871923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86194C-AE96-6D70-372C-A16348623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85079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E270B-642E-B7B3-6EBA-417EAEC03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A1612-1657-0BAE-C0DB-7501B7177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 dirty="0"/>
              <a:t>Chapter 2: What the heck have I done since last time?</a:t>
            </a:r>
            <a:br>
              <a:rPr lang="en-US" sz="1800" dirty="0"/>
            </a:br>
            <a:r>
              <a:rPr lang="en-US" dirty="0"/>
              <a:t>Re-design of signal creation toolchain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099C2F6-4E93-4989-CD1F-B88515EC44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292" y="2097088"/>
            <a:ext cx="5537200" cy="40767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60BE3C8-101B-4B53-FFAA-F90B8D12DB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932" y="2097088"/>
            <a:ext cx="5435600" cy="4051300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C62012-90AE-242E-057C-D3B80AA70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512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5D94E-BE3C-4706-4FC6-0E378DD80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6B3A3-4DB1-1ABD-03A7-04E596ABE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 dirty="0"/>
              <a:t>Chapter 2: What the heck have I done since last time?</a:t>
            </a:r>
            <a:br>
              <a:rPr lang="en-US" sz="1800" dirty="0"/>
            </a:br>
            <a:r>
              <a:rPr lang="en-US" dirty="0"/>
              <a:t>Re-design of signal creation toolchain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FA966E-F71C-53AB-E465-3C05841105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00" y="2097088"/>
            <a:ext cx="5435600" cy="40513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BF4589A-F3B0-8923-E040-D3480403A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0446" y="2097088"/>
            <a:ext cx="5231965" cy="4051300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E4F88D-D253-86DC-03DF-8D3415993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9577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32633-9545-FCBA-A789-43E36A366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F67D0-E106-5725-98EE-0FA174476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 dirty="0"/>
              <a:t>Chapter 2: What the heck have I done since last time?</a:t>
            </a:r>
            <a:br>
              <a:rPr lang="en-US" sz="1800" dirty="0"/>
            </a:br>
            <a:r>
              <a:rPr lang="en-US" dirty="0"/>
              <a:t>Re-design of signal creation toolchain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FDE164-D884-FA6C-5DC4-A2CBE1EDC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132" y="2094230"/>
            <a:ext cx="5224228" cy="385826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FE7FDFB-2B12-158E-CC1C-7D0D75D1B82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785"/>
          <a:stretch>
            <a:fillRect/>
          </a:stretch>
        </p:blipFill>
        <p:spPr>
          <a:xfrm>
            <a:off x="6243721" y="2094230"/>
            <a:ext cx="4984074" cy="3712210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24FD543-6AE3-72F4-94DA-1BC552A4B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30458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07CA46-B48C-E32F-18AC-B4555B6A0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C5097-D38C-606C-0134-E865654D1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 dirty="0"/>
              <a:t>Chapter 2: What the heck have I done since last time?</a:t>
            </a:r>
            <a:br>
              <a:rPr lang="en-US" sz="1800" dirty="0"/>
            </a:br>
            <a:r>
              <a:rPr lang="en-US" dirty="0"/>
              <a:t>Re-design of signal creation toolchain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61E429-0484-1DFC-08BE-79357C6D9C0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89" t="2390" r="1024" b="2811"/>
          <a:stretch>
            <a:fillRect/>
          </a:stretch>
        </p:blipFill>
        <p:spPr>
          <a:xfrm>
            <a:off x="671603" y="1981499"/>
            <a:ext cx="10848793" cy="3988995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5C4FC7-E363-C8F8-B48A-C54D54A7C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3735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C2F2E-C142-5E9B-488C-00C3C0F37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15825-DB22-1302-62BF-481CBE5DDC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39119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2: What the heck have I done since last time?</a:t>
            </a:r>
            <a:br>
              <a:rPr lang="en-US" sz="1800" dirty="0"/>
            </a:br>
            <a:r>
              <a:rPr lang="en-US" dirty="0"/>
              <a:t>Flow of Re-designed of signal demodulation toolchain</a:t>
            </a:r>
          </a:p>
        </p:txBody>
      </p:sp>
      <p:pic>
        <p:nvPicPr>
          <p:cNvPr id="4" name="Picture 3" descr="A group of graphs showing different types of data&#10;&#10;AI-generated content may be incorrect.">
            <a:extLst>
              <a:ext uri="{FF2B5EF4-FFF2-40B4-BE49-F238E27FC236}">
                <a16:creationId xmlns:a16="http://schemas.microsoft.com/office/drawing/2014/main" id="{EBB0F054-59A9-E84A-8D2E-22660DCDC1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3965" y="2097088"/>
            <a:ext cx="8364070" cy="4460837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AC9923-8F57-6E93-AEF0-277AA251B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4219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5A77E-A579-2FF4-B7DD-3131FD6BC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1B6D6-668C-1E64-737B-73CBC90718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39119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2: What the heck have I done since last time?</a:t>
            </a:r>
            <a:br>
              <a:rPr lang="en-US" sz="1800" dirty="0"/>
            </a:br>
            <a:r>
              <a:rPr lang="en-US" dirty="0"/>
              <a:t>Flow of Re-designed of signal demodulation toolchain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B5CE58-4D60-25F7-2262-860046C195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4980" y="2097088"/>
            <a:ext cx="8702040" cy="4431024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FAED703-CFEE-7852-811A-377E46FA9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23395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039EA-CD74-93BE-DAC5-9B9D06896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C1969-9B4E-A419-CECC-2B5669FAE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39119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2: What the heck have I done since last time?</a:t>
            </a:r>
            <a:br>
              <a:rPr lang="en-US" sz="1800" dirty="0"/>
            </a:br>
            <a:r>
              <a:rPr lang="en-US" dirty="0"/>
              <a:t>Flow of Re-designed of signal demodulation toolchain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C533F1C-9EFF-822A-3807-C0712CA537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0" y="2097088"/>
            <a:ext cx="8001000" cy="4344756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8D2462-417B-B036-A218-16708BEF89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3454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04D13-E9CF-D774-024F-E069A81ED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34A01-68A3-828C-D894-A240D9FDD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39119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2: What the heck have I done since last time?</a:t>
            </a:r>
            <a:br>
              <a:rPr lang="en-US" sz="1800" dirty="0"/>
            </a:br>
            <a:r>
              <a:rPr lang="en-US" dirty="0"/>
              <a:t>Flow of Re-designed of signal demodulation toolchain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B88674-F163-D5F1-CD74-500B0B22D6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097088"/>
            <a:ext cx="7772400" cy="4202518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BCAA5C-8B51-5DAD-2233-5228BF724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1310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D7E2A-BF00-F7E1-17E3-093C09EE5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9656B-7F06-A56C-69F0-B4D63046A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39119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2: What the heck have I done since last time?</a:t>
            </a:r>
            <a:br>
              <a:rPr lang="en-US" sz="1800" dirty="0"/>
            </a:br>
            <a:r>
              <a:rPr lang="en-US" dirty="0"/>
              <a:t>Flow of Re-designed of signal demodulation toolchain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E7162CD-0784-EA55-95DF-B2C8B4FBAC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640" y="2097088"/>
            <a:ext cx="8046720" cy="4405669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3E11EC-1805-9EF0-0685-29F1E5E03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7093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7F147-4874-18A9-9A2D-D118D0C9D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B8F28-2ED4-5848-F848-EA66702E1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39119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2: What the heck have I done since last time?</a:t>
            </a:r>
            <a:br>
              <a:rPr lang="en-US" sz="1800" dirty="0"/>
            </a:br>
            <a:r>
              <a:rPr lang="en-US" dirty="0"/>
              <a:t>Built a testing rig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2FE528A-F5F9-1933-12D3-421F5834C9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9271" y="1838886"/>
            <a:ext cx="7190025" cy="4044388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D1485A-E0F6-D03B-72DD-B94B1607F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29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AC1D3E-B02D-7C52-C1C7-03D3DEA83A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69" y="2097088"/>
            <a:ext cx="3776666" cy="2473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0234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CD377-C0AE-306A-B5CC-D57A7B48A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1880F-108B-F1BB-03C2-769D3A82E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39119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2: What the heck have I done since last time?</a:t>
            </a:r>
            <a:br>
              <a:rPr lang="en-US" sz="1800" dirty="0"/>
            </a:br>
            <a:r>
              <a:rPr lang="en-US" dirty="0"/>
              <a:t>Preliminary Communications testing</a:t>
            </a:r>
          </a:p>
        </p:txBody>
      </p:sp>
      <p:pic>
        <p:nvPicPr>
          <p:cNvPr id="5" name="Picture 4" descr="A graph with a line&#10;&#10;AI-generated content may be incorrect.">
            <a:extLst>
              <a:ext uri="{FF2B5EF4-FFF2-40B4-BE49-F238E27FC236}">
                <a16:creationId xmlns:a16="http://schemas.microsoft.com/office/drawing/2014/main" id="{1D95451F-DF70-D71A-F105-3152D79DDB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2393" y="1734016"/>
            <a:ext cx="7947213" cy="4768327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CF3532-E0A2-3319-2773-4881CA281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2805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38467-47F2-4FC1-4470-E05A38712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E52F5-8DA9-A020-B3F2-C04030D54C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39119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2: What the heck have I done since last time?</a:t>
            </a:r>
            <a:br>
              <a:rPr lang="en-US" sz="1800" dirty="0"/>
            </a:br>
            <a:r>
              <a:rPr lang="en-US" dirty="0"/>
              <a:t>Creating classification pipeline</a:t>
            </a:r>
          </a:p>
        </p:txBody>
      </p:sp>
      <p:pic>
        <p:nvPicPr>
          <p:cNvPr id="4" name="Picture 3" descr="A graph of a graph&#10;&#10;AI-generated content may be incorrect.">
            <a:extLst>
              <a:ext uri="{FF2B5EF4-FFF2-40B4-BE49-F238E27FC236}">
                <a16:creationId xmlns:a16="http://schemas.microsoft.com/office/drawing/2014/main" id="{3A8094E3-156B-D3E3-FB5A-A70E898004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537" y="1814977"/>
            <a:ext cx="4477497" cy="4716935"/>
          </a:xfrm>
          <a:prstGeom prst="rect">
            <a:avLst/>
          </a:prstGeom>
        </p:spPr>
      </p:pic>
      <p:pic>
        <p:nvPicPr>
          <p:cNvPr id="7" name="Picture 6" descr="A diagram of a graph&#10;&#10;AI-generated content may be incorrect.">
            <a:extLst>
              <a:ext uri="{FF2B5EF4-FFF2-40B4-BE49-F238E27FC236}">
                <a16:creationId xmlns:a16="http://schemas.microsoft.com/office/drawing/2014/main" id="{8AD74F8D-2433-C03C-7619-F85E370A8C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9326" y="2008294"/>
            <a:ext cx="5773737" cy="4330303"/>
          </a:xfrm>
          <a:prstGeom prst="rect">
            <a:avLst/>
          </a:prstGeom>
        </p:spPr>
      </p:pic>
      <p:pic>
        <p:nvPicPr>
          <p:cNvPr id="9" name="Picture 8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FACE2EAC-1AEB-70EB-0918-30D0F4FA75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20023" y="2008294"/>
            <a:ext cx="6661518" cy="4052423"/>
          </a:xfrm>
          <a:prstGeom prst="rect">
            <a:avLst/>
          </a:prstGeom>
        </p:spPr>
      </p:pic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E7A34C2-1A76-AEE9-42D7-53F8844E1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0320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D85A0-E980-DC44-87D3-D480BCEC9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17BBD-707B-864E-2AD0-22637A732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39119" cy="1478570"/>
          </a:xfrm>
        </p:spPr>
        <p:txBody>
          <a:bodyPr>
            <a:normAutofit/>
          </a:bodyPr>
          <a:lstStyle/>
          <a:p>
            <a:r>
              <a:rPr lang="en-US" sz="1400" dirty="0"/>
              <a:t>Chapter 2: What the heck have I done since last time?</a:t>
            </a:r>
            <a:br>
              <a:rPr lang="en-US" sz="1800" dirty="0"/>
            </a:br>
            <a:r>
              <a:rPr lang="en-US" dirty="0"/>
              <a:t>Creating classification pipeline</a:t>
            </a:r>
          </a:p>
        </p:txBody>
      </p:sp>
      <p:pic>
        <p:nvPicPr>
          <p:cNvPr id="4" name="Picture 3" descr="A graph of a graph&#10;&#10;AI-generated content may be incorrect.">
            <a:extLst>
              <a:ext uri="{FF2B5EF4-FFF2-40B4-BE49-F238E27FC236}">
                <a16:creationId xmlns:a16="http://schemas.microsoft.com/office/drawing/2014/main" id="{39A6AB69-B7CA-BA6C-904B-988E95C33F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287063" y="1814977"/>
            <a:ext cx="4477497" cy="4716935"/>
          </a:xfrm>
          <a:prstGeom prst="rect">
            <a:avLst/>
          </a:prstGeom>
        </p:spPr>
      </p:pic>
      <p:pic>
        <p:nvPicPr>
          <p:cNvPr id="7" name="Picture 6" descr="A diagram of a graph&#10;&#10;AI-generated content may be incorrect.">
            <a:extLst>
              <a:ext uri="{FF2B5EF4-FFF2-40B4-BE49-F238E27FC236}">
                <a16:creationId xmlns:a16="http://schemas.microsoft.com/office/drawing/2014/main" id="{6AAA4978-E7FA-A109-B37D-727C22A3DF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645" y="2460446"/>
            <a:ext cx="4434274" cy="3325706"/>
          </a:xfrm>
          <a:prstGeom prst="rect">
            <a:avLst/>
          </a:prstGeom>
        </p:spPr>
      </p:pic>
      <p:pic>
        <p:nvPicPr>
          <p:cNvPr id="9" name="Picture 8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4174D665-D3F2-767E-9084-6105757222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9013" y="2147232"/>
            <a:ext cx="6661518" cy="405242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7718FA-9658-B74C-360A-43279F7318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5744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54868-B23D-3336-2D6D-577B227DA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7F93F-5F79-CB0E-B85B-D786D5E7D0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739119" cy="1478570"/>
          </a:xfrm>
        </p:spPr>
        <p:txBody>
          <a:bodyPr>
            <a:normAutofit/>
          </a:bodyPr>
          <a:lstStyle/>
          <a:p>
            <a:r>
              <a:rPr lang="en-US" dirty="0"/>
              <a:t>Chapter 3: What my next steps may be?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CC760E-0900-C3CE-51FB-F4C65FC94CCB}"/>
              </a:ext>
            </a:extLst>
          </p:cNvPr>
          <p:cNvSpPr txBox="1"/>
          <p:nvPr/>
        </p:nvSpPr>
        <p:spPr>
          <a:xfrm>
            <a:off x="860612" y="1896035"/>
            <a:ext cx="969532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/>
              <a:t>Communication Testing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/>
              <a:t>Communication system characterization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/>
              <a:t>Long cable loopback test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/>
              <a:t>Antenna test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Range Testing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/>
              <a:t>Characterize system performance when detecting objects at different distances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/>
              <a:t>Multiple targets in frame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Classification testing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/>
              <a:t>Keep scene background the same, then change targets and get multiple captures of each object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/>
              <a:t>Asses classification performance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458B0-4766-FCC5-67F2-70DA0DD89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32544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7278</TotalTime>
  <Words>1113</Words>
  <Application>Microsoft Macintosh PowerPoint</Application>
  <PresentationFormat>Widescreen</PresentationFormat>
  <Paragraphs>126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7" baseType="lpstr">
      <vt:lpstr>Aptos</vt:lpstr>
      <vt:lpstr>Arial</vt:lpstr>
      <vt:lpstr>Tw Cen MT</vt:lpstr>
      <vt:lpstr>Circuit</vt:lpstr>
      <vt:lpstr>Design and Implementation of a joint communication and Radar System Optimized for Target Classification</vt:lpstr>
      <vt:lpstr>The goals of the day</vt:lpstr>
      <vt:lpstr>Chapter 1 </vt:lpstr>
      <vt:lpstr>Chapter 1: What does a “Joint Communication and Radar System” mean? ”Classic” Radar Waveforms</vt:lpstr>
      <vt:lpstr>Chapter 1: What does a “Joint Communication and Radar System” mean? digital data modulation schemes</vt:lpstr>
      <vt:lpstr>Chapter 1: What does a “Joint Communication and Radar System” mean? The ”popular” digital data modulation scheme</vt:lpstr>
      <vt:lpstr>Chapter 2 </vt:lpstr>
      <vt:lpstr>Chapter 2: Why do I want to use a communication signal in my radar? We want to investigate the following</vt:lpstr>
      <vt:lpstr>Chapter 3 </vt:lpstr>
      <vt:lpstr>Chapter 3: What are Channel Estimations? the Traditional Communication Answer</vt:lpstr>
      <vt:lpstr>Chapter 3: What are Channel Estimations?  What does this look like in real life?</vt:lpstr>
      <vt:lpstr>Chapter 3: What are Channel Estimations? How does one get a channel estimation?</vt:lpstr>
      <vt:lpstr>Chapter 4 </vt:lpstr>
      <vt:lpstr>Chapter 4: How am I utilizing Channel Estimations? extracting channel Estimates from target reflections</vt:lpstr>
      <vt:lpstr>Chapter 5 </vt:lpstr>
      <vt:lpstr>Chapter 1: What the heck am I trying to do Classification via channel estimation</vt:lpstr>
      <vt:lpstr>Last time we spoke I had done the following</vt:lpstr>
      <vt:lpstr>Chapter 2: What the heck have I done since last time? Re-design of signal creation toolchain</vt:lpstr>
      <vt:lpstr>Chapter 2: What the heck have I done since last time? Re-design of signal creation toolchain</vt:lpstr>
      <vt:lpstr>Chapter 2: What the heck have I done since last time? Re-design of signal creation toolchain</vt:lpstr>
      <vt:lpstr>Chapter 2: What the heck have I done since last time? Re-design of signal creation toolchain</vt:lpstr>
      <vt:lpstr>Chapter 2: What the heck have I done since last time? Re-design of signal creation toolchain</vt:lpstr>
      <vt:lpstr>Chapter 2: What the heck have I done since last time? Re-design of signal creation toolchain</vt:lpstr>
      <vt:lpstr>Chapter 2: What the heck have I done since last time? Flow of Re-designed of signal demodulation toolchain</vt:lpstr>
      <vt:lpstr>Chapter 2: What the heck have I done since last time? Flow of Re-designed of signal demodulation toolchain</vt:lpstr>
      <vt:lpstr>Chapter 2: What the heck have I done since last time? Flow of Re-designed of signal demodulation toolchain</vt:lpstr>
      <vt:lpstr>Chapter 2: What the heck have I done since last time? Flow of Re-designed of signal demodulation toolchain</vt:lpstr>
      <vt:lpstr>Chapter 2: What the heck have I done since last time? Flow of Re-designed of signal demodulation toolchain</vt:lpstr>
      <vt:lpstr>Chapter 2: What the heck have I done since last time? Built a testing rig</vt:lpstr>
      <vt:lpstr>Chapter 2: What the heck have I done since last time? Preliminary Communications testing</vt:lpstr>
      <vt:lpstr>Chapter 2: What the heck have I done since last time? Creating classification pipeline</vt:lpstr>
      <vt:lpstr>Chapter 2: What the heck have I done since last time? Creating classification pipeline</vt:lpstr>
      <vt:lpstr>Chapter 3: What my next steps may be?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Rory Schram</dc:creator>
  <cp:lastModifiedBy>Rory Schram</cp:lastModifiedBy>
  <cp:revision>22</cp:revision>
  <dcterms:created xsi:type="dcterms:W3CDTF">2025-08-11T13:07:48Z</dcterms:created>
  <dcterms:modified xsi:type="dcterms:W3CDTF">2025-09-08T14:15:15Z</dcterms:modified>
</cp:coreProperties>
</file>