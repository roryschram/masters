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8" r:id="rId3"/>
    <p:sldId id="257" r:id="rId4"/>
    <p:sldId id="260" r:id="rId5"/>
    <p:sldId id="261" r:id="rId6"/>
    <p:sldId id="262" r:id="rId7"/>
    <p:sldId id="267" r:id="rId8"/>
    <p:sldId id="268" r:id="rId9"/>
    <p:sldId id="269" r:id="rId10"/>
    <p:sldId id="270" r:id="rId11"/>
    <p:sldId id="271" r:id="rId12"/>
    <p:sldId id="272" r:id="rId13"/>
    <p:sldId id="274" r:id="rId14"/>
    <p:sldId id="286" r:id="rId15"/>
    <p:sldId id="281" r:id="rId16"/>
    <p:sldId id="285" r:id="rId17"/>
    <p:sldId id="275" r:id="rId18"/>
    <p:sldId id="280" r:id="rId19"/>
    <p:sldId id="282" r:id="rId20"/>
    <p:sldId id="283" r:id="rId21"/>
    <p:sldId id="284" r:id="rId22"/>
    <p:sldId id="276" r:id="rId23"/>
    <p:sldId id="277" r:id="rId24"/>
    <p:sldId id="278" r:id="rId25"/>
    <p:sldId id="279" r:id="rId26"/>
    <p:sldId id="287" r:id="rId27"/>
    <p:sldId id="288" r:id="rId28"/>
    <p:sldId id="290" r:id="rId29"/>
    <p:sldId id="291" r:id="rId30"/>
    <p:sldId id="289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1"/>
  </p:normalViewPr>
  <p:slideViewPr>
    <p:cSldViewPr snapToGrid="0">
      <p:cViewPr>
        <p:scale>
          <a:sx n="95" d="100"/>
          <a:sy n="95" d="100"/>
        </p:scale>
        <p:origin x="112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5475A-19DE-C244-8B09-FC56C781097B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127C0-F521-9948-9013-52DD44571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1EC579-7593-4549-B507-F6F0CEEF4AFD}" type="datetime1">
              <a:rPr lang="en-ZA" smtClean="0"/>
              <a:t>2025/08/12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6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2C4BB-465C-6E4C-978A-0C0A956CF691}" type="datetime1">
              <a:rPr lang="en-ZA" smtClean="0"/>
              <a:t>2025/08/12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0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D4562-BAD8-3F4A-9F37-20B755856047}" type="datetime1">
              <a:rPr lang="en-ZA" smtClean="0"/>
              <a:t>2025/08/12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1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9250E-0EE9-EA43-9468-E0071303EE7C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FF489-9620-BA4E-8717-E1C285784F57}" type="datetime1">
              <a:rPr lang="en-ZA" smtClean="0"/>
              <a:t>2025/08/12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1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5ADB8-3EC9-844E-BDE2-91BD3889BD77}" type="datetime1">
              <a:rPr lang="en-ZA" smtClean="0"/>
              <a:t>2025/08/12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3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5FEA7-CBA3-0948-A76E-2C459879B990}" type="datetime1">
              <a:rPr lang="en-ZA" smtClean="0"/>
              <a:t>2025/08/12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4566F-1137-DA4C-9793-D93F52BCA8ED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2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1FB96-0A17-8749-A843-B45B8292CCFD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2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F6D22-ADAE-7B43-8F9E-52AD50CD8AE7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5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9BEA8-C43D-7C44-A69A-98F077409581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09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0A68F-D802-8A4E-8318-CCF5E4C7BC32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3892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4993-7A65-D74F-A64D-6C67C9178D34}" type="datetime1">
              <a:rPr lang="en-ZA" smtClean="0"/>
              <a:t>2025/08/12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264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696C8-D003-BD43-A4CD-8BA9FBCE70B5}" type="datetime1">
              <a:rPr lang="en-ZA" smtClean="0"/>
              <a:t>2025/08/12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42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33E1-B106-7A45-9269-60D04875F2BC}" type="datetime1">
              <a:rPr lang="en-ZA" smtClean="0"/>
              <a:t>2025/08/12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83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2049-046C-9B40-AA51-2DEFB9DC7419}" type="datetime1">
              <a:rPr lang="en-ZA" smtClean="0"/>
              <a:t>2025/08/12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92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1FEC-2792-1F46-9402-94180001DAD1}" type="datetime1">
              <a:rPr lang="en-ZA" smtClean="0"/>
              <a:t>2025/08/12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1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0388B-757F-D94A-A850-F6E64ADB1682}" type="datetime1">
              <a:rPr lang="en-ZA" smtClean="0"/>
              <a:t>2025/08/12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AA6EE-10E7-AE46-9D86-B298884D3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060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0831-91FD-1F51-E519-726105DA93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and implementation of single pulse classification radar – an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92320-6CCC-1B89-B82A-888005638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rory</a:t>
            </a:r>
            <a:r>
              <a:rPr lang="en-US" dirty="0"/>
              <a:t> </a:t>
            </a:r>
            <a:r>
              <a:rPr lang="en-US" dirty="0" err="1"/>
              <a:t>schram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6F73C-6F99-5456-7A2C-0C44BFA40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7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0BBC-8DDB-6644-79B4-D62D8D814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goals of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76ED-C61F-35BA-8B38-4120E5F32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Chapter 1:What the hell are you trying to achieve?</a:t>
            </a:r>
          </a:p>
          <a:p>
            <a:pPr marL="0" indent="0">
              <a:buNone/>
            </a:pPr>
            <a:r>
              <a:rPr lang="en-US" dirty="0"/>
              <a:t>Chapter 2: What the heck have I done since last time?</a:t>
            </a:r>
          </a:p>
          <a:p>
            <a:pPr marL="0" indent="0">
              <a:buNone/>
            </a:pPr>
            <a:r>
              <a:rPr lang="en-US" dirty="0"/>
              <a:t>Chapter 3: What my next steps may be?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7F437-0DD7-A342-6121-FF49D6B7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05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E3B0-C9C9-6242-EB1D-7B86D528E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75FCF-A035-EBD3-6FEF-063A1E25A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81" y="2305433"/>
            <a:ext cx="4700983" cy="350819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F0C6E7-8D6F-3349-CF72-9D5CC6BEE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744" y="1974669"/>
            <a:ext cx="4902862" cy="4169724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4764E3AE-4A81-DA5A-2C3E-C1FFE59ED360}"/>
              </a:ext>
            </a:extLst>
          </p:cNvPr>
          <p:cNvSpPr/>
          <p:nvPr/>
        </p:nvSpPr>
        <p:spPr>
          <a:xfrm>
            <a:off x="3013893" y="2864874"/>
            <a:ext cx="879598" cy="2363190"/>
          </a:xfrm>
          <a:prstGeom prst="frame">
            <a:avLst>
              <a:gd name="adj1" fmla="val 0"/>
            </a:avLst>
          </a:prstGeom>
          <a:noFill/>
          <a:ln w="698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3DE681-50CB-7C69-197A-E8B8A57B4C84}"/>
              </a:ext>
            </a:extLst>
          </p:cNvPr>
          <p:cNvCxnSpPr/>
          <p:nvPr/>
        </p:nvCxnSpPr>
        <p:spPr>
          <a:xfrm flipV="1">
            <a:off x="3893491" y="1974669"/>
            <a:ext cx="2436253" cy="89020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58897C-75F1-F1E4-EE86-743743C4BD63}"/>
              </a:ext>
            </a:extLst>
          </p:cNvPr>
          <p:cNvCxnSpPr>
            <a:cxnSpLocks/>
          </p:cNvCxnSpPr>
          <p:nvPr/>
        </p:nvCxnSpPr>
        <p:spPr>
          <a:xfrm>
            <a:off x="3893491" y="5228064"/>
            <a:ext cx="2436253" cy="840209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F884B67-89A6-F572-7C9A-95751273D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9489" y="1973868"/>
            <a:ext cx="5659501" cy="481057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F8A070-7AC1-C65B-A021-25F7678E101F}"/>
              </a:ext>
            </a:extLst>
          </p:cNvPr>
          <p:cNvCxnSpPr>
            <a:cxnSpLocks/>
          </p:cNvCxnSpPr>
          <p:nvPr/>
        </p:nvCxnSpPr>
        <p:spPr>
          <a:xfrm>
            <a:off x="12559613" y="4201452"/>
            <a:ext cx="669235" cy="0"/>
          </a:xfrm>
          <a:prstGeom prst="straightConnector1">
            <a:avLst/>
          </a:prstGeom>
          <a:ln w="1016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D14C1F-EF6E-61E5-77A7-B93B7C0B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0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8791-B040-1718-AAF3-0243BEC4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AF8C7-A854-C299-9BAB-787CC6962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C98A78-06DA-3CBC-551A-E04642323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38847" y="2203604"/>
            <a:ext cx="4700983" cy="350819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2882B8-E90D-E700-8871-A16A04CB1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86" y="1872840"/>
            <a:ext cx="4902862" cy="4169724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CBE3D49E-8341-6D91-3A87-B3175D7C464D}"/>
              </a:ext>
            </a:extLst>
          </p:cNvPr>
          <p:cNvSpPr/>
          <p:nvPr/>
        </p:nvSpPr>
        <p:spPr>
          <a:xfrm>
            <a:off x="-8628154" y="2763045"/>
            <a:ext cx="879598" cy="2363190"/>
          </a:xfrm>
          <a:prstGeom prst="frame">
            <a:avLst>
              <a:gd name="adj1" fmla="val 0"/>
            </a:avLst>
          </a:prstGeom>
          <a:noFill/>
          <a:ln w="698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5A7D93-14A7-8E60-8E90-55DA56EB52AC}"/>
              </a:ext>
            </a:extLst>
          </p:cNvPr>
          <p:cNvCxnSpPr/>
          <p:nvPr/>
        </p:nvCxnSpPr>
        <p:spPr>
          <a:xfrm flipV="1">
            <a:off x="-7748556" y="1872840"/>
            <a:ext cx="2436253" cy="89020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964AAE-A08F-3F96-8255-53843D56587B}"/>
              </a:ext>
            </a:extLst>
          </p:cNvPr>
          <p:cNvCxnSpPr>
            <a:cxnSpLocks/>
          </p:cNvCxnSpPr>
          <p:nvPr/>
        </p:nvCxnSpPr>
        <p:spPr>
          <a:xfrm>
            <a:off x="-7748556" y="5126235"/>
            <a:ext cx="2436253" cy="840209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2C1210C-476F-AADF-546E-F32545CF0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275" y="1872840"/>
            <a:ext cx="5659501" cy="481057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340D91-8746-0225-42CA-AF28FADAD4E0}"/>
              </a:ext>
            </a:extLst>
          </p:cNvPr>
          <p:cNvCxnSpPr>
            <a:cxnSpLocks/>
          </p:cNvCxnSpPr>
          <p:nvPr/>
        </p:nvCxnSpPr>
        <p:spPr>
          <a:xfrm>
            <a:off x="5307497" y="4046469"/>
            <a:ext cx="669235" cy="0"/>
          </a:xfrm>
          <a:prstGeom prst="straightConnector1">
            <a:avLst/>
          </a:prstGeom>
          <a:ln w="1016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0C1A28-9571-E799-00A7-D05C03C870BD}"/>
              </a:ext>
            </a:extLst>
          </p:cNvPr>
          <p:cNvGrpSpPr/>
          <p:nvPr/>
        </p:nvGrpSpPr>
        <p:grpSpPr>
          <a:xfrm>
            <a:off x="13430179" y="2527126"/>
            <a:ext cx="10826958" cy="2835028"/>
            <a:chOff x="13430179" y="2527126"/>
            <a:chExt cx="10826958" cy="2835028"/>
          </a:xfrm>
        </p:grpSpPr>
        <p:pic>
          <p:nvPicPr>
            <p:cNvPr id="13" name="Picture 4" descr="RADAR Basics">
              <a:extLst>
                <a:ext uri="{FF2B5EF4-FFF2-40B4-BE49-F238E27FC236}">
                  <a16:creationId xmlns:a16="http://schemas.microsoft.com/office/drawing/2014/main" id="{440A0BD8-7F20-4E4B-A1E3-6A74354F6B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0179" y="2527126"/>
              <a:ext cx="10826958" cy="2835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1DF5C64-CB47-3E9A-7969-BE4D5CFEB76A}"/>
                </a:ext>
              </a:extLst>
            </p:cNvPr>
            <p:cNvSpPr/>
            <p:nvPr/>
          </p:nvSpPr>
          <p:spPr>
            <a:xfrm rot="21540000">
              <a:off x="15957449" y="4005891"/>
              <a:ext cx="5532699" cy="12025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2F77714-C92E-2772-9AD7-BE594FA2D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6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4025-2543-D495-099E-93D863E4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FB6D-DF42-CAF8-C891-71749B44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BB44B-D718-2B65-C871-2ED204C9D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50014" y="1763112"/>
            <a:ext cx="4902862" cy="41697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EA816A-23EA-9FA2-4BD6-FF8112681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1725" y="1763112"/>
            <a:ext cx="5659501" cy="481057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CEF54B-23FC-C84A-30EA-E863334271E0}"/>
              </a:ext>
            </a:extLst>
          </p:cNvPr>
          <p:cNvCxnSpPr>
            <a:cxnSpLocks/>
          </p:cNvCxnSpPr>
          <p:nvPr/>
        </p:nvCxnSpPr>
        <p:spPr>
          <a:xfrm>
            <a:off x="-8408503" y="3936741"/>
            <a:ext cx="669235" cy="0"/>
          </a:xfrm>
          <a:prstGeom prst="straightConnector1">
            <a:avLst/>
          </a:prstGeom>
          <a:ln w="10160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48A6396-DCC7-8241-2CF1-F4D1FE9D2A13}"/>
              </a:ext>
            </a:extLst>
          </p:cNvPr>
          <p:cNvGrpSpPr/>
          <p:nvPr/>
        </p:nvGrpSpPr>
        <p:grpSpPr>
          <a:xfrm>
            <a:off x="680933" y="2430460"/>
            <a:ext cx="10826958" cy="2835028"/>
            <a:chOff x="13430179" y="2527126"/>
            <a:chExt cx="10826958" cy="2835028"/>
          </a:xfrm>
        </p:grpSpPr>
        <p:pic>
          <p:nvPicPr>
            <p:cNvPr id="7" name="Picture 4" descr="RADAR Basics">
              <a:extLst>
                <a:ext uri="{FF2B5EF4-FFF2-40B4-BE49-F238E27FC236}">
                  <a16:creationId xmlns:a16="http://schemas.microsoft.com/office/drawing/2014/main" id="{FF2570F9-54CB-082D-9C20-1E8A2CA54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0179" y="2527126"/>
              <a:ext cx="10826958" cy="2835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3F5789-B245-6657-72A4-D825DCD0ACA2}"/>
                </a:ext>
              </a:extLst>
            </p:cNvPr>
            <p:cNvSpPr/>
            <p:nvPr/>
          </p:nvSpPr>
          <p:spPr>
            <a:xfrm rot="21540000">
              <a:off x="15957449" y="4005891"/>
              <a:ext cx="5532699" cy="12025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7EA1D2B-B54D-2BE8-821B-22853EF63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23406" y="1763112"/>
            <a:ext cx="5922066" cy="5035141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2EFB334-C1B9-5542-EA0D-04F17771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50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D83D-457C-9013-CFCE-7E7E6DAF5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F23D-78F2-0754-2826-67BCF6B4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15B795-8B9B-2078-918F-6E6B5475DB2B}"/>
              </a:ext>
            </a:extLst>
          </p:cNvPr>
          <p:cNvGrpSpPr/>
          <p:nvPr/>
        </p:nvGrpSpPr>
        <p:grpSpPr>
          <a:xfrm>
            <a:off x="-12802461" y="2366664"/>
            <a:ext cx="10826958" cy="2835028"/>
            <a:chOff x="13430179" y="2527126"/>
            <a:chExt cx="10826958" cy="2835028"/>
          </a:xfrm>
        </p:grpSpPr>
        <p:pic>
          <p:nvPicPr>
            <p:cNvPr id="7" name="Picture 4" descr="RADAR Basics">
              <a:extLst>
                <a:ext uri="{FF2B5EF4-FFF2-40B4-BE49-F238E27FC236}">
                  <a16:creationId xmlns:a16="http://schemas.microsoft.com/office/drawing/2014/main" id="{7DC9E6B2-ACA0-90DB-BB10-7B69FEA857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30179" y="2527126"/>
              <a:ext cx="10826958" cy="28350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17286E4-4146-75AC-24F4-2513F61B07F1}"/>
                </a:ext>
              </a:extLst>
            </p:cNvPr>
            <p:cNvSpPr/>
            <p:nvPr/>
          </p:nvSpPr>
          <p:spPr>
            <a:xfrm rot="21540000">
              <a:off x="15957449" y="4005891"/>
              <a:ext cx="5532699" cy="12025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1D55393-5CE1-0179-E182-A6D4307CD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79" y="1752619"/>
            <a:ext cx="5922066" cy="5035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53E5F0-EA7A-F7DD-6AA9-2FFBC4F70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5812" y="1752619"/>
            <a:ext cx="5865690" cy="4967506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C462451-DC54-BBCC-EBA0-8C04850B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13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05BA-4DC8-0261-816C-50541107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DAB4-E5C6-2E07-8277-59B061E13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30A3B-E7DA-0D94-8DD2-A808429B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5158" y="1480983"/>
            <a:ext cx="5922066" cy="50351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E0D5BC-03D4-A949-278F-E8947598D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567" y="1795901"/>
            <a:ext cx="5865690" cy="49675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49C9211-697F-8970-3A8C-8CCFFD714D08}"/>
              </a:ext>
            </a:extLst>
          </p:cNvPr>
          <p:cNvGrpSpPr/>
          <p:nvPr/>
        </p:nvGrpSpPr>
        <p:grpSpPr>
          <a:xfrm>
            <a:off x="13067565" y="1728556"/>
            <a:ext cx="8234159" cy="4168580"/>
            <a:chOff x="13067565" y="1728556"/>
            <a:chExt cx="8234159" cy="4168580"/>
          </a:xfrm>
        </p:grpSpPr>
        <p:sp>
          <p:nvSpPr>
            <p:cNvPr id="5" name="Frame 4">
              <a:extLst>
                <a:ext uri="{FF2B5EF4-FFF2-40B4-BE49-F238E27FC236}">
                  <a16:creationId xmlns:a16="http://schemas.microsoft.com/office/drawing/2014/main" id="{8D21A0F8-0EFB-7B15-40C9-5354D6AFD622}"/>
                </a:ext>
              </a:extLst>
            </p:cNvPr>
            <p:cNvSpPr/>
            <p:nvPr/>
          </p:nvSpPr>
          <p:spPr>
            <a:xfrm>
              <a:off x="13067565" y="2057150"/>
              <a:ext cx="526775" cy="3274828"/>
            </a:xfrm>
            <a:prstGeom prst="frame">
              <a:avLst>
                <a:gd name="adj1" fmla="val 0"/>
              </a:avLst>
            </a:prstGeom>
            <a:noFill/>
            <a:ln w="698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C7AE34-F9CB-9B86-85D3-CD488C1474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94340" y="1728556"/>
              <a:ext cx="2804522" cy="32859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590DAC-8B9A-7F63-83C0-FD6511986825}"/>
                </a:ext>
              </a:extLst>
            </p:cNvPr>
            <p:cNvCxnSpPr>
              <a:cxnSpLocks/>
            </p:cNvCxnSpPr>
            <p:nvPr/>
          </p:nvCxnSpPr>
          <p:spPr>
            <a:xfrm>
              <a:off x="13594340" y="5331978"/>
              <a:ext cx="2804522" cy="56515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5D4D5CF-17DF-6EC5-466F-4DA0BBB10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98862" y="1728556"/>
              <a:ext cx="4902862" cy="4168580"/>
            </a:xfrm>
            <a:prstGeom prst="rect">
              <a:avLst/>
            </a:prstGeom>
          </p:spPr>
        </p:pic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19780CC-52E8-F63E-ED03-3A770F7B5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25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411B0-9820-CF48-0BC9-D86D446B9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B595-FEDA-0CFF-D353-1829122F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3AD257-7474-3639-EE04-B66B203D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72" y="1756564"/>
            <a:ext cx="5865690" cy="496750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A650778-51F2-50C6-3AE3-F2892F263684}"/>
              </a:ext>
            </a:extLst>
          </p:cNvPr>
          <p:cNvGrpSpPr/>
          <p:nvPr/>
        </p:nvGrpSpPr>
        <p:grpSpPr>
          <a:xfrm>
            <a:off x="3485567" y="2270327"/>
            <a:ext cx="8234159" cy="4168580"/>
            <a:chOff x="13067565" y="1728556"/>
            <a:chExt cx="8234159" cy="4168580"/>
          </a:xfrm>
        </p:grpSpPr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AF628AC1-9B4F-12EC-5D5D-02A8F2F3B6DC}"/>
                </a:ext>
              </a:extLst>
            </p:cNvPr>
            <p:cNvSpPr/>
            <p:nvPr/>
          </p:nvSpPr>
          <p:spPr>
            <a:xfrm>
              <a:off x="13067565" y="2057150"/>
              <a:ext cx="526775" cy="3274828"/>
            </a:xfrm>
            <a:prstGeom prst="frame">
              <a:avLst>
                <a:gd name="adj1" fmla="val 0"/>
              </a:avLst>
            </a:prstGeom>
            <a:noFill/>
            <a:ln w="698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0AA3811-2F7D-B25F-CAE7-74B7EDE8E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94340" y="1728556"/>
              <a:ext cx="2804522" cy="32859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F41DDF6-E573-0ACD-6F3A-C89A35CA6B04}"/>
                </a:ext>
              </a:extLst>
            </p:cNvPr>
            <p:cNvCxnSpPr>
              <a:cxnSpLocks/>
            </p:cNvCxnSpPr>
            <p:nvPr/>
          </p:nvCxnSpPr>
          <p:spPr>
            <a:xfrm>
              <a:off x="13594340" y="5331978"/>
              <a:ext cx="2804522" cy="56515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E0B1FA-BCAC-D427-DF22-3E6BC9FE0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98862" y="1728556"/>
              <a:ext cx="4902862" cy="416858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1CEBA47-DCC4-B624-716F-47DA6A5BF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4025" y="2080936"/>
            <a:ext cx="7772400" cy="431079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207D1D-705F-7243-BC52-1FE37973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419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AC3E0-06EA-45F9-327E-B412F1A56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290D-5FC1-2E97-6083-E788857A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0089CB-47C9-B02D-2E48-1FBEF624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677628" y="1424227"/>
            <a:ext cx="5865690" cy="496750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B4DFAEA-D5F7-07E9-75BF-EB1A1D94A816}"/>
              </a:ext>
            </a:extLst>
          </p:cNvPr>
          <p:cNvGrpSpPr/>
          <p:nvPr/>
        </p:nvGrpSpPr>
        <p:grpSpPr>
          <a:xfrm>
            <a:off x="-10916233" y="1937990"/>
            <a:ext cx="8234159" cy="4168580"/>
            <a:chOff x="13067565" y="1728556"/>
            <a:chExt cx="8234159" cy="4168580"/>
          </a:xfrm>
        </p:grpSpPr>
        <p:sp>
          <p:nvSpPr>
            <p:cNvPr id="7" name="Frame 6">
              <a:extLst>
                <a:ext uri="{FF2B5EF4-FFF2-40B4-BE49-F238E27FC236}">
                  <a16:creationId xmlns:a16="http://schemas.microsoft.com/office/drawing/2014/main" id="{63B40318-B8D0-FFD6-A83C-CB0BC4347F44}"/>
                </a:ext>
              </a:extLst>
            </p:cNvPr>
            <p:cNvSpPr/>
            <p:nvPr/>
          </p:nvSpPr>
          <p:spPr>
            <a:xfrm>
              <a:off x="13067565" y="2057150"/>
              <a:ext cx="526775" cy="3274828"/>
            </a:xfrm>
            <a:prstGeom prst="frame">
              <a:avLst>
                <a:gd name="adj1" fmla="val 0"/>
              </a:avLst>
            </a:prstGeom>
            <a:noFill/>
            <a:ln w="698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78CB6F3-84F6-B496-2CDF-62C942208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94340" y="1728556"/>
              <a:ext cx="2804522" cy="328594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4EEF23B-BCE1-F43B-8D4C-48A98409F0B5}"/>
                </a:ext>
              </a:extLst>
            </p:cNvPr>
            <p:cNvCxnSpPr>
              <a:cxnSpLocks/>
            </p:cNvCxnSpPr>
            <p:nvPr/>
          </p:nvCxnSpPr>
          <p:spPr>
            <a:xfrm>
              <a:off x="13594340" y="5331978"/>
              <a:ext cx="2804522" cy="56515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E8B2299-97FC-C920-EB5B-5727D0B68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98862" y="1728556"/>
              <a:ext cx="4902862" cy="416858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C8807CC-E103-CD60-25E8-835CD1F17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12" y="2097088"/>
            <a:ext cx="7772400" cy="431079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C131-1F5E-7FFC-75B1-FBA94FB9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00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A625-90C1-2552-8ED3-30497D57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90A4-5A2C-29E7-2A44-8835AB84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3933F3-E0BE-7FF9-F786-3ED846AA9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2097088"/>
            <a:ext cx="7772400" cy="43107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1AF6BF-83A4-0945-27A6-E39F43B6D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5703" y="1768733"/>
            <a:ext cx="5865690" cy="4967506"/>
          </a:xfrm>
          <a:prstGeom prst="rect">
            <a:avLst/>
          </a:prstGeom>
        </p:spPr>
      </p:pic>
      <p:pic>
        <p:nvPicPr>
          <p:cNvPr id="9" name="Picture 8" descr="A red circle with a black background&#10;&#10;AI-generated content may be incorrect.">
            <a:extLst>
              <a:ext uri="{FF2B5EF4-FFF2-40B4-BE49-F238E27FC236}">
                <a16:creationId xmlns:a16="http://schemas.microsoft.com/office/drawing/2014/main" id="{DE4254C8-EC85-FC32-8F73-F8A5F5451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522" y="1768733"/>
            <a:ext cx="4967506" cy="496750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D3BB66F-974E-03C1-43DA-580A05B1E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07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8A74-8247-3207-E5F1-A2AB5F5B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40F5-D135-3CA1-76A4-01B38C09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B0877-3191-EC00-AD9A-BEE91674C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567" y="1768733"/>
            <a:ext cx="5865690" cy="4967506"/>
          </a:xfrm>
          <a:prstGeom prst="rect">
            <a:avLst/>
          </a:prstGeom>
        </p:spPr>
      </p:pic>
      <p:pic>
        <p:nvPicPr>
          <p:cNvPr id="6" name="Picture 5" descr="A green check mark on a black background&#10;&#10;AI-generated content may be incorrect.">
            <a:extLst>
              <a:ext uri="{FF2B5EF4-FFF2-40B4-BE49-F238E27FC236}">
                <a16:creationId xmlns:a16="http://schemas.microsoft.com/office/drawing/2014/main" id="{32169F6B-4022-EBF2-6E79-B8EDD610E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288" y="2767874"/>
            <a:ext cx="1856232" cy="1856232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E72E66A-6958-D89C-969E-55AF7D6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93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A8B0-C47A-787B-61F5-08C85F17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0FD2-7148-7C0D-AD7D-B8054511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Simple pulse radar setup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FE3F9-6D0F-DAAB-145F-A845BDDD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567" y="1768733"/>
            <a:ext cx="5865690" cy="4967506"/>
          </a:xfrm>
          <a:prstGeom prst="rect">
            <a:avLst/>
          </a:prstGeom>
        </p:spPr>
      </p:pic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A2C89C-E3E4-E99D-551B-61E76E210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834640"/>
            <a:ext cx="2001520" cy="200152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545C0E-4888-6E46-6172-49150CE19855}"/>
              </a:ext>
            </a:extLst>
          </p:cNvPr>
          <p:cNvCxnSpPr/>
          <p:nvPr/>
        </p:nvCxnSpPr>
        <p:spPr>
          <a:xfrm flipV="1">
            <a:off x="6390640" y="4643120"/>
            <a:ext cx="629920" cy="731520"/>
          </a:xfrm>
          <a:prstGeom prst="straightConnector1">
            <a:avLst/>
          </a:prstGeom>
          <a:ln w="1016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DD8D524-3263-4DFE-F148-AFAFD541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36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EDC2B-79EF-4D4C-AD48-7BA77AB1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72B1-E26E-ED13-FB01-C60989E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1: What the heck am I trying to do</a:t>
            </a:r>
            <a:br>
              <a:rPr lang="en-US" sz="1800" dirty="0"/>
            </a:br>
            <a:r>
              <a:rPr lang="en-US" dirty="0"/>
              <a:t>Classification via channel estimation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A976E-EA81-AECE-134C-E5D9D0378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913140"/>
            <a:ext cx="9905998" cy="432634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67D92-7398-FEA8-EDFB-57A62540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528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BB06-92E4-B117-0A48-7F6D81C71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8202-E661-0AD3-BAE4-466D426B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time we spoke I had done the following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E83141-0F64-242F-D3CA-D6C099BDE654}"/>
              </a:ext>
            </a:extLst>
          </p:cNvPr>
          <p:cNvSpPr txBox="1"/>
          <p:nvPr/>
        </p:nvSpPr>
        <p:spPr>
          <a:xfrm>
            <a:off x="860612" y="2097088"/>
            <a:ext cx="9977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Created a single pulse RADAR, very bare bones.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Embedded some data with pilots into the RADAR signal to try and get a channel estimation of a scene.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C2D44-9F15-8E3C-B9F9-40D50C508854}"/>
              </a:ext>
            </a:extLst>
          </p:cNvPr>
          <p:cNvSpPr txBox="1"/>
          <p:nvPr/>
        </p:nvSpPr>
        <p:spPr>
          <a:xfrm>
            <a:off x="2747684" y="4128029"/>
            <a:ext cx="35589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also decided that I needed a rig for all my equipment, which could potentially look like this.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DA044-35B0-3889-F8B3-D6503DFEB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3575658"/>
            <a:ext cx="3776666" cy="247321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ED086-788C-7D7B-3D4A-A45C9267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4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5231-A1B2-0F44-B1E0-93CF6ACE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94E8-2A37-12F7-F97A-5790D5A4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Re-design of signal creation toolchain</a:t>
            </a:r>
          </a:p>
        </p:txBody>
      </p:sp>
      <p:pic>
        <p:nvPicPr>
          <p:cNvPr id="6" name="Picture 5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BE4D073E-C105-55ED-58F8-5C4C9C3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764029"/>
            <a:ext cx="9905998" cy="492083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02E8FD-2BE4-0EC9-A310-87D9FAEB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3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5256-7875-5781-F1CF-36F2ED0D8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F868-CE47-4417-D4BD-6A7B98E1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Re-design of signal creation toolchain</a:t>
            </a:r>
          </a:p>
        </p:txBody>
      </p:sp>
      <p:pic>
        <p:nvPicPr>
          <p:cNvPr id="5" name="Picture 4" descr="A close-up of a note&#10;&#10;AI-generated content may be incorrect.">
            <a:extLst>
              <a:ext uri="{FF2B5EF4-FFF2-40B4-BE49-F238E27FC236}">
                <a16:creationId xmlns:a16="http://schemas.microsoft.com/office/drawing/2014/main" id="{3C0E02D4-F508-8505-D279-36C3C5058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79" y="2367559"/>
            <a:ext cx="11402442" cy="387192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6194C-AE96-6D70-372C-A1634862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0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270B-642E-B7B3-6EBA-417EAEC0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1612-1657-0BAE-C0DB-7501B717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Re-design of signal creation toolchain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9C2F6-4E93-4989-CD1F-B88515EC4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92" y="2097088"/>
            <a:ext cx="5537200" cy="4076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0BE3C8-101B-4B53-FFAA-F90B8D12D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932" y="2097088"/>
            <a:ext cx="5435600" cy="4051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62012-90AE-242E-057C-D3B80AA7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51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5D94E-BE3C-4706-4FC6-0E378DD80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B3A3-4DB1-1ABD-03A7-04E596AB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Re-design of signal creation toolchain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A966E-F71C-53AB-E465-3C0584110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097088"/>
            <a:ext cx="5435600" cy="4051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F4589A-F3B0-8923-E040-D3480403A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446" y="2097088"/>
            <a:ext cx="5231965" cy="40513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4F88D-D253-86DC-03DF-8D341599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957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32633-9545-FCBA-A789-43E36A36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67D0-E106-5725-98EE-0FA174476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Re-design of signal creation toolchain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DE164-D884-FA6C-5DC4-A2CBE1EDC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32" y="2094230"/>
            <a:ext cx="5224228" cy="3858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7FDFB-2B12-158E-CC1C-7D0D75D1B8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85"/>
          <a:stretch>
            <a:fillRect/>
          </a:stretch>
        </p:blipFill>
        <p:spPr>
          <a:xfrm>
            <a:off x="6243721" y="2094230"/>
            <a:ext cx="4984074" cy="371221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4FD543-6AE3-72F4-94DA-1BC552A4B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45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CA46-B48C-E32F-18AC-B4555B6A0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5097-D38C-606C-0134-E865654D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Re-design of signal creation toolchain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1E429-0484-1DFC-08BE-79357C6D9C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" t="2390" r="1024" b="2811"/>
          <a:stretch>
            <a:fillRect/>
          </a:stretch>
        </p:blipFill>
        <p:spPr>
          <a:xfrm>
            <a:off x="671603" y="1981499"/>
            <a:ext cx="10848793" cy="3988995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C4FC7-E363-C8F8-B48A-C54D54A7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373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C2F2E-C142-5E9B-488C-00C3C0F3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5825-DB22-1302-62BF-481CBE5D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Flow of Re-designed of signal demodulation toolchain</a:t>
            </a:r>
          </a:p>
        </p:txBody>
      </p:sp>
      <p:pic>
        <p:nvPicPr>
          <p:cNvPr id="4" name="Picture 3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EBB0F054-59A9-E84A-8D2E-22660DCD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965" y="2097088"/>
            <a:ext cx="8364070" cy="44608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C9923-8F57-6E93-AEF0-277AA251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21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A77E-A579-2FF4-B7DD-3131FD6B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B6D6-668C-1E64-737B-73CBC9071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Flow of Re-designed of signal demodulation toolchain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5CE58-4D60-25F7-2262-860046C19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980" y="2097088"/>
            <a:ext cx="8702040" cy="443102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ED703-CFEE-7852-811A-377E46FA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39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39EA-CD74-93BE-DAC5-9B9D0689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1969-9B4E-A419-CECC-2B5669FA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Flow of Re-designed of signal demodulation toolchain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533F1C-9EFF-822A-3807-C0712CA5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097088"/>
            <a:ext cx="8001000" cy="434475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8D2462-417B-B036-A218-16708BEF8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45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04D13-E9CF-D774-024F-E069A81E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4A01-68A3-828C-D894-A240D9FDD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Flow of Re-designed of signal demodulation toolchain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B88674-F163-D5F1-CD74-500B0B22D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97088"/>
            <a:ext cx="7772400" cy="420251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AA5C-8B51-5DAD-2233-5228BF72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31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7E2A-BF00-F7E1-17E3-093C09EE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9656B-7F06-A56C-69F0-B4D63046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Flow of Re-designed of signal demodulation toolchain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162CD-0784-EA55-95DF-B2C8B4FBA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640" y="2097088"/>
            <a:ext cx="8046720" cy="44056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E11EC-1805-9EF0-0685-29F1E5E0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09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7F147-4874-18A9-9A2D-D118D0C9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B8F28-2ED4-5848-F848-EA66702E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Built a testing rig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E528A-F5F9-1933-12D3-421F5834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271" y="1838886"/>
            <a:ext cx="7190025" cy="40443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1485A-E0F6-D03B-72DD-B94B1607F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C1D3E-B02D-7C52-C1C7-03D3DEA83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9" y="2097088"/>
            <a:ext cx="3776666" cy="247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3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CD377-C0AE-306A-B5CC-D57A7B48A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1880F-108B-F1BB-03C2-769D3A82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Preliminary Communications testing</a:t>
            </a:r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1D95451F-DF70-D71A-F105-3152D79D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393" y="1734016"/>
            <a:ext cx="7947213" cy="476832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F3532-E0A2-3319-2773-4881CA28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805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8467-47F2-4FC1-4470-E05A3871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52F5-8DA9-A020-B3F2-C04030D54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Creating classification pipeline</a:t>
            </a: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3A8094E3-156B-D3E3-FB5A-A70E89800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7" y="1814977"/>
            <a:ext cx="4477497" cy="4716935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8AD74F8D-2433-C03C-7619-F85E370A8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326" y="2008294"/>
            <a:ext cx="5773737" cy="4330303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ACE2EAC-1AEB-70EB-0918-30D0F4FA75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0023" y="2008294"/>
            <a:ext cx="6661518" cy="4052423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7A34C2-1A76-AEE9-42D7-53F8844E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2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85A0-E980-DC44-87D3-D480BCEC9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7BBD-707B-864E-2AD0-22637A73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sz="1400" dirty="0"/>
              <a:t>Chapter 2: What the heck have I done since last time?</a:t>
            </a:r>
            <a:br>
              <a:rPr lang="en-US" sz="1800" dirty="0"/>
            </a:br>
            <a:r>
              <a:rPr lang="en-US" dirty="0"/>
              <a:t>Creating classification pipeline</a:t>
            </a: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39A6AB69-B7CA-BA6C-904B-988E95C3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87063" y="1814977"/>
            <a:ext cx="4477497" cy="4716935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6AAA4978-E7FA-A109-B37D-727C22A3D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45" y="2460446"/>
            <a:ext cx="4434274" cy="3325706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174D665-D3F2-767E-9084-610575722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013" y="2147232"/>
            <a:ext cx="6661518" cy="405242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718FA-9658-B74C-360A-43279F73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74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54868-B23D-3336-2D6D-577B227D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F93F-5F79-CB0E-B85B-D786D5E7D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739119" cy="1478570"/>
          </a:xfrm>
        </p:spPr>
        <p:txBody>
          <a:bodyPr>
            <a:normAutofit/>
          </a:bodyPr>
          <a:lstStyle/>
          <a:p>
            <a:r>
              <a:rPr lang="en-US" dirty="0"/>
              <a:t>Chapter 3: What my next steps may be?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C760E-0900-C3CE-51FB-F4C65FC94CCB}"/>
              </a:ext>
            </a:extLst>
          </p:cNvPr>
          <p:cNvSpPr txBox="1"/>
          <p:nvPr/>
        </p:nvSpPr>
        <p:spPr>
          <a:xfrm>
            <a:off x="860612" y="1896035"/>
            <a:ext cx="96953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Communication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Communication system characterization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Long cable loopback test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Antenna test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Range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Characterize system performance when detecting objects at different distances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Multiple targets in frame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Classification testing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Keep scene background the same, then change targets and get multiple captures of each object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Asses classification performance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458B0-4766-FCC5-67F2-70DA0DD89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A6EE-10E7-AE46-9D86-B298884D386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25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1301</TotalTime>
  <Words>664</Words>
  <Application>Microsoft Macintosh PowerPoint</Application>
  <PresentationFormat>Widescreen</PresentationFormat>
  <Paragraphs>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Tw Cen MT</vt:lpstr>
      <vt:lpstr>Circuit</vt:lpstr>
      <vt:lpstr>Design and implementation of single pulse classification radar – an update</vt:lpstr>
      <vt:lpstr>The goals of the day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Simple pulse radar setup</vt:lpstr>
      <vt:lpstr>Chapter 1: What the heck am I trying to do Classification via channel estimation</vt:lpstr>
      <vt:lpstr>Last time we spoke I had done the following</vt:lpstr>
      <vt:lpstr>Chapter 2: What the heck have I done since last time? Re-design of signal creation toolchain</vt:lpstr>
      <vt:lpstr>Chapter 2: What the heck have I done since last time? Re-design of signal creation toolchain</vt:lpstr>
      <vt:lpstr>Chapter 2: What the heck have I done since last time? Re-design of signal creation toolchain</vt:lpstr>
      <vt:lpstr>Chapter 2: What the heck have I done since last time? Re-design of signal creation toolchain</vt:lpstr>
      <vt:lpstr>Chapter 2: What the heck have I done since last time? Re-design of signal creation toolchain</vt:lpstr>
      <vt:lpstr>Chapter 2: What the heck have I done since last time? Re-design of signal creation toolchain</vt:lpstr>
      <vt:lpstr>Chapter 2: What the heck have I done since last time? Flow of Re-designed of signal demodulation toolchain</vt:lpstr>
      <vt:lpstr>Chapter 2: What the heck have I done since last time? Flow of Re-designed of signal demodulation toolchain</vt:lpstr>
      <vt:lpstr>Chapter 2: What the heck have I done since last time? Flow of Re-designed of signal demodulation toolchain</vt:lpstr>
      <vt:lpstr>Chapter 2: What the heck have I done since last time? Flow of Re-designed of signal demodulation toolchain</vt:lpstr>
      <vt:lpstr>Chapter 2: What the heck have I done since last time? Flow of Re-designed of signal demodulation toolchain</vt:lpstr>
      <vt:lpstr>Chapter 2: What the heck have I done since last time? Built a testing rig</vt:lpstr>
      <vt:lpstr>Chapter 2: What the heck have I done since last time? Preliminary Communications testing</vt:lpstr>
      <vt:lpstr>Chapter 2: What the heck have I done since last time? Creating classification pipeline</vt:lpstr>
      <vt:lpstr>Chapter 2: What the heck have I done since last time? Creating classification pipeline</vt:lpstr>
      <vt:lpstr>Chapter 3: What my next steps may be?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Rory Schram</dc:creator>
  <cp:lastModifiedBy>Rory Schram</cp:lastModifiedBy>
  <cp:revision>16</cp:revision>
  <dcterms:created xsi:type="dcterms:W3CDTF">2025-08-11T13:07:48Z</dcterms:created>
  <dcterms:modified xsi:type="dcterms:W3CDTF">2025-08-12T10:49:36Z</dcterms:modified>
</cp:coreProperties>
</file>